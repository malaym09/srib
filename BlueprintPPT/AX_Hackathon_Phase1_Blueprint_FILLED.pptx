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Team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1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B8E"/>
                </a:solidFill>
                <a:latin typeface="Calibri"/>
              </a:rPr>
              <a:t>Team 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800" b="1" i="0">
                <a:solidFill>
                  <a:srgbClr val="0F1B3D"/>
                </a:solidFill>
                <a:latin typeface="Calibri"/>
              </a:rPr>
              <a:t>Team MalayM09 — sole-team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124712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B8E"/>
                </a:solidFill>
                <a:latin typeface="Calibri"/>
              </a:rPr>
              <a:t>Team Member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1124712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10515600" cy="31089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0F1B3D"/>
                </a:solidFill>
                <a:latin typeface="Calibri"/>
              </a:rPr>
              <a:t>Malay Mishra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3B8E"/>
                </a:solidFill>
                <a:latin typeface="Calibri"/>
              </a:rPr>
              <a:t>College  </a:t>
            </a:r>
            <a:r>
              <a:rPr sz="1300" b="0" i="0">
                <a:solidFill>
                  <a:srgbClr val="404856"/>
                </a:solidFill>
                <a:latin typeface="Calibri"/>
              </a:rPr>
              <a:t>BITS Pilani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3B8E"/>
                </a:solidFill>
                <a:latin typeface="Calibri"/>
              </a:rPr>
              <a:t>Department  </a:t>
            </a:r>
            <a:r>
              <a:rPr sz="1300" b="0" i="0">
                <a:solidFill>
                  <a:srgbClr val="404856"/>
                </a:solidFill>
                <a:latin typeface="Calibri"/>
              </a:rPr>
              <a:t>Electronics &amp; Communication / CS dual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3B8E"/>
                </a:solidFill>
                <a:latin typeface="Calibri"/>
              </a:rPr>
              <a:t>Year  </a:t>
            </a:r>
            <a:r>
              <a:rPr sz="1300" b="0" i="0">
                <a:solidFill>
                  <a:srgbClr val="404856"/>
                </a:solidFill>
                <a:latin typeface="Calibri"/>
              </a:rPr>
              <a:t>Pre-final year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03B8E"/>
                </a:solidFill>
                <a:latin typeface="Calibri"/>
              </a:rPr>
              <a:t>Email  </a:t>
            </a:r>
            <a:r>
              <a:rPr sz="1300" b="0" i="0">
                <a:solidFill>
                  <a:srgbClr val="404856"/>
                </a:solidFill>
                <a:latin typeface="Calibri"/>
              </a:rPr>
              <a:t>—  (filled at submission)</a:t>
            </a:r>
          </a:p>
          <a:p>
            <a:pPr algn="l"/>
            <a:r>
              <a:rPr sz="1300" b="1" i="0">
                <a:solidFill>
                  <a:srgbClr val="003B8E"/>
                </a:solidFill>
                <a:latin typeface="Calibri"/>
              </a:rPr>
              <a:t>GitHub  </a:t>
            </a:r>
            <a:r>
              <a:rPr sz="1300" b="0" i="0">
                <a:solidFill>
                  <a:srgbClr val="404856"/>
                </a:solidFill>
                <a:latin typeface="Calibri"/>
              </a:rPr>
              <a:t>github.com/MalayM09/SRIB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3B8E"/>
                </a:solidFill>
                <a:latin typeface="Calibri"/>
              </a:rPr>
              <a:t>Selected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CF2FC"/>
          </a:solidFill>
          <a:ln w="9525">
            <a:solidFill>
              <a:srgbClr val="1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500" b="1" i="0">
                <a:solidFill>
                  <a:srgbClr val="0F1B3D"/>
                </a:solidFill>
                <a:latin typeface="Calibri"/>
              </a:rPr>
              <a:t>PS04  ·  Speech Disentanglement — Speaker-Specific Custom Word Detection on the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3B8E"/>
                </a:solidFill>
                <a:latin typeface="Calibri"/>
              </a:rPr>
              <a:t>Problem Understanding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11247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10972800" cy="182880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04856"/>
                </a:solidFill>
                <a:latin typeface="Calibri"/>
              </a:rPr>
              <a:t>Voice triggers must wake a device only when the right person says the right word — not when an impostor says it, not when a phonetically similar word is spoken, and not when crowd / traffic / babble noise drowns the signal.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04856"/>
                </a:solidFill>
                <a:latin typeface="Calibri"/>
              </a:rPr>
              <a:t>Today's edge wake-word systems either (a) accept anyone saying the trigger (privacy risk on shared devices), or (b) need &gt;10 M parameters and cloud offload. Standard log-Mel + ResNet pipelines collapse at low SNR; Transformer-based KWS miss the latency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1124712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3B8E"/>
                </a:solidFill>
                <a:latin typeface="Calibri"/>
              </a:rPr>
              <a:t>Hard KPI envelope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ECF2FC"/>
          </a:solidFill>
          <a:ln w="9525">
            <a:solidFill>
              <a:srgbClr val="1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5138928"/>
            <a:ext cx="3246120" cy="12801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44BC4"/>
                </a:solidFill>
                <a:latin typeface="Calibri"/>
              </a:rPr>
              <a:t>Accuracy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True-accept clean 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≥ 99 %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True-accept noisy 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≥ 90 %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False-accept rate 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&lt; 1 / hr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502920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ECF2FC"/>
          </a:solidFill>
          <a:ln w="9525">
            <a:solidFill>
              <a:srgbClr val="1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34840" y="5138928"/>
            <a:ext cx="3246120" cy="12801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44BC4"/>
                </a:solidFill>
                <a:latin typeface="Calibri"/>
              </a:rPr>
              <a:t>Compute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Params 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&lt; 3 M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xRT (real-time) 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&lt; 0.2 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Memory 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edge-class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029200"/>
            <a:ext cx="3611880" cy="1463040"/>
          </a:xfrm>
          <a:prstGeom prst="roundRect">
            <a:avLst>
              <a:gd name="adj" fmla="val 6000"/>
            </a:avLst>
          </a:prstGeom>
          <a:solidFill>
            <a:srgbClr val="ECF2FC"/>
          </a:solidFill>
          <a:ln w="9525">
            <a:solidFill>
              <a:srgbClr val="1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0" y="5138928"/>
            <a:ext cx="3246120" cy="12801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44BC4"/>
                </a:solidFill>
                <a:latin typeface="Calibri"/>
              </a:rPr>
              <a:t>Conditions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SNR sweep 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−5 to 30 dB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Distance 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0.5 to 5 m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Languages 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phonetic-general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Proposed Solution — High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6012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CF2FC"/>
          </a:solidFill>
          <a:ln w="9525">
            <a:solidFill>
              <a:srgbClr val="1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8686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300" b="1" i="0">
                <a:solidFill>
                  <a:srgbClr val="144BC4"/>
                </a:solidFill>
                <a:latin typeface="Calibri"/>
              </a:rPr>
              <a:t>One sentence.  </a:t>
            </a:r>
            <a:r>
              <a:rPr sz="1300" b="0" i="0">
                <a:solidFill>
                  <a:srgbClr val="0F1B3D"/>
                </a:solidFill>
                <a:latin typeface="Calibri"/>
              </a:rPr>
              <a:t>A single ~830 K-parameter joint student (KWS backbone validated at 324 K) performs Keyword Spotting and Speaker Verification, distilled from two frozen SOTA teachers, with speaker-conditioned classification and a FAR-aware training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36576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3657600" cy="320040"/>
          </a:xfrm>
          <a:prstGeom prst="rect">
            <a:avLst/>
          </a:prstGeom>
          <a:solidFill>
            <a:srgbClr val="14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3291840" cy="3200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1. Robust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3200400" cy="31089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200" b="0" i="0">
                <a:solidFill>
                  <a:srgbClr val="404856"/>
                </a:solidFill>
                <a:latin typeface="Calibri"/>
              </a:rPr>
              <a:t>Learnable PCEN on Mel — survives −5 dB SNR where log-Mel collapses. Equivalent to LEAF in practice at a fraction of the compute.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69280"/>
            <a:ext cx="320040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100" b="1" i="1">
                <a:solidFill>
                  <a:srgbClr val="144BC4"/>
                </a:solidFill>
                <a:latin typeface="Calibri"/>
              </a:rPr>
              <a:t>PCEN ≡ LEAF (sub-layer)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33672" y="2057400"/>
            <a:ext cx="36576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33672" y="2057400"/>
            <a:ext cx="3657600" cy="3200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057400"/>
            <a:ext cx="3291840" cy="3200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2. Compact Joint Student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514600"/>
            <a:ext cx="3200400" cy="31089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200" b="0" i="0">
                <a:solidFill>
                  <a:srgbClr val="404856"/>
                </a:solidFill>
                <a:latin typeface="Calibri"/>
              </a:rPr>
              <a:t>Modified BC-ResNet-8 with TRM branching, MQMHA pooling on SV head, and FiLM-conditioned KWS head — the speaker embedding modulates the keyword classifier.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5669280"/>
            <a:ext cx="320040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100" b="1" i="1">
                <a:solidFill>
                  <a:srgbClr val="B8860B"/>
                </a:solidFill>
                <a:latin typeface="Calibri"/>
              </a:rPr>
              <a:t>499 K Phase-1, → ~830 K Phase-2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057400"/>
            <a:ext cx="36576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10144" y="2057400"/>
            <a:ext cx="3657600" cy="320040"/>
          </a:xfrm>
          <a:prstGeom prst="rect">
            <a:avLst/>
          </a:prstGeom>
          <a:solidFill>
            <a:srgbClr val="C32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2057400"/>
            <a:ext cx="3291840" cy="3200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 Multi-Teacher KD + FAR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514600"/>
            <a:ext cx="3200400" cy="31089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200" b="0" i="0">
                <a:solidFill>
                  <a:srgbClr val="404856"/>
                </a:solidFill>
                <a:latin typeface="Calibri"/>
              </a:rPr>
              <a:t>WavLM-Base+ (phonetic) + ECAPA-TDNN (biometric) teachers. Training loop includes online τₛ calibration that bakes the FA &lt; 1 / hr operating point into the embedding geometry.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5669280"/>
            <a:ext cx="320040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100" b="1" i="1">
                <a:solidFill>
                  <a:srgbClr val="C3292B"/>
                </a:solidFill>
                <a:latin typeface="Calibri"/>
              </a:rPr>
              <a:t>FA &lt; 1 / hr baked into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Technical Details —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4 / 17</a:t>
            </a:r>
          </a:p>
        </p:txBody>
      </p:sp>
      <p:pic>
        <p:nvPicPr>
          <p:cNvPr id="6" name="Picture 5" descr="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6847"/>
            <a:ext cx="11430000" cy="19239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352044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ECF2FC"/>
          </a:solidFill>
          <a:ln w="9525">
            <a:solidFill>
              <a:srgbClr val="1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329184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300" b="1" i="0">
                <a:solidFill>
                  <a:srgbClr val="144BC4"/>
                </a:solidFill>
                <a:latin typeface="Calibri"/>
              </a:rPr>
              <a:t>Forward (inference)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3200400" cy="224028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waveform → PCEN frontend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→ shared BC-ResNet-8 trunk (blue)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→ TRM branching (yellow)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→ KWS / SV heads (green)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→ FiLM (red) modulates KWS logits on the speaker embedding.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352044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9525">
            <a:solidFill>
              <a:srgbClr val="C32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16552" y="3611880"/>
            <a:ext cx="329184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300" b="1" i="0">
                <a:solidFill>
                  <a:srgbClr val="C3292B"/>
                </a:solidFill>
                <a:latin typeface="Calibri"/>
              </a:rPr>
              <a:t>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4023360"/>
            <a:ext cx="3200400" cy="224028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Stop-gradient on the SV→FiLM edge —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KWS loss never back-propagates into the speaker branch.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Otherwise SV degrades (trade-off measured on Slide 7).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352044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BF2DD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93024" y="3611880"/>
            <a:ext cx="329184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300" b="1" i="0">
                <a:solidFill>
                  <a:srgbClr val="B8860B"/>
                </a:solidFill>
                <a:latin typeface="Calibri"/>
              </a:rPr>
              <a:t>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4023360"/>
            <a:ext cx="3200400" cy="224028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Trunk  324 K  (validated)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+ branches / heads  ~175 K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=  499 K  Phase-1 joint  (Slide 8)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~830 K projected with multi-teacher KD heads.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Technical Details — Multi-Teacher Knowledge Distillation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5 / 17</a:t>
            </a:r>
          </a:p>
        </p:txBody>
      </p:sp>
      <p:pic>
        <p:nvPicPr>
          <p:cNvPr id="6" name="Picture 5" descr="2_distil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043" y="960120"/>
            <a:ext cx="7043434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43484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CF2FC"/>
          </a:solidFill>
          <a:ln w="9525">
            <a:solidFill>
              <a:srgbClr val="1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400" b="1" i="0">
                <a:solidFill>
                  <a:srgbClr val="0F1B3D"/>
                </a:solidFill>
                <a:latin typeface="Calibri"/>
              </a:rPr>
              <a:t>L_total = </a:t>
            </a:r>
            <a:r>
              <a:rPr sz="1300" b="0" i="0">
                <a:solidFill>
                  <a:srgbClr val="0F1B3D"/>
                </a:solidFill>
                <a:latin typeface="Calibri"/>
              </a:rPr>
              <a:t>λ₁·L_KWS^Focal + λ₂·L_SV^SubCtr-AAM + λ₃·T²·KL(stu ∥ probe) + λ₄·L_hint^{4,8,11} + λ₅·L_ECAPA^multi-level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400"/>
            <a:ext cx="11247120" cy="100584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 w="9525">
            <a:solidFill>
              <a:srgbClr val="1B7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300" b="1" i="0">
                <a:solidFill>
                  <a:srgbClr val="1B7F4F"/>
                </a:solidFill>
                <a:latin typeface="Calibri"/>
              </a:rPr>
              <a:t>Phase-1 validation:  </a:t>
            </a:r>
            <a:r>
              <a:rPr sz="1200" b="0" i="0">
                <a:solidFill>
                  <a:srgbClr val="404856"/>
                </a:solidFill>
                <a:latin typeface="Calibri"/>
              </a:rPr>
              <a:t>WavLM-Base+ final-layer distillation (simplest form of L_hint) trained jointly with L_KWS for 40 epochs  →  KWS clean val </a:t>
            </a:r>
            <a:r>
              <a:rPr sz="1300" b="1" i="0">
                <a:solidFill>
                  <a:srgbClr val="144BC4"/>
                </a:solidFill>
                <a:latin typeface="Calibri"/>
              </a:rPr>
              <a:t>97.6 → 98.3 %</a:t>
            </a:r>
            <a:r>
              <a:rPr sz="1200" b="0" i="0">
                <a:solidFill>
                  <a:srgbClr val="404856"/>
                </a:solidFill>
                <a:latin typeface="Calibri"/>
              </a:rPr>
              <a:t>,  cosine alignment with teacher </a:t>
            </a:r>
            <a:r>
              <a:rPr sz="1300" b="1" i="0">
                <a:solidFill>
                  <a:srgbClr val="144BC4"/>
                </a:solidFill>
                <a:latin typeface="Calibri"/>
              </a:rPr>
              <a:t>0.94</a:t>
            </a:r>
            <a:r>
              <a:rPr sz="1200" b="0" i="0">
                <a:solidFill>
                  <a:srgbClr val="404856"/>
                </a:solidFill>
                <a:latin typeface="Calibri"/>
              </a:rPr>
              <a:t>.  Multi-layer hints {4, 8, 11} projected to close the remaining 0.7 pp gap to 99 % — see Slide 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Technical Details — Parameter Budget &amp; Training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6 / 17</a:t>
            </a:r>
          </a:p>
        </p:txBody>
      </p:sp>
      <p:pic>
        <p:nvPicPr>
          <p:cNvPr id="6" name="Picture 5" descr="6_param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69113"/>
            <a:ext cx="5486400" cy="299409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0" y="1005840"/>
            <a:ext cx="576072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394960" cy="41148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300" b="1" i="0">
                <a:solidFill>
                  <a:srgbClr val="0F1B3D"/>
                </a:solidFill>
                <a:latin typeface="Calibri"/>
              </a:rPr>
              <a:t>Training stages  (~36 GPU-hr Kaggle T4 / P100)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394960" cy="365760"/>
          </a:xfrm>
          <a:prstGeom prst="rect">
            <a:avLst/>
          </a:prstGeom>
          <a:solidFill>
            <a:srgbClr val="14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48640" cy="36576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45920"/>
            <a:ext cx="2377440" cy="36576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645920"/>
            <a:ext cx="2651760" cy="36576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029968"/>
            <a:ext cx="5394960" cy="50292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29968"/>
            <a:ext cx="54864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029968"/>
            <a:ext cx="237744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SC + LibriPhrase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029968"/>
            <a:ext cx="265176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Train WavLM→KWS probe (one-time)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32888"/>
            <a:ext cx="54864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532888"/>
            <a:ext cx="237744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Speech Commands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532888"/>
            <a:ext cx="265176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Stabilise PCEN + trunk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035808"/>
            <a:ext cx="5394960" cy="50292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035808"/>
            <a:ext cx="54864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035808"/>
            <a:ext cx="237744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SC + VoxCeleb1 + LibriPhrase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035808"/>
            <a:ext cx="265176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Full multi-task + all KD terms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538728"/>
            <a:ext cx="54864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38728"/>
            <a:ext cx="237744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LibriPhrase + TTS-trigger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538728"/>
            <a:ext cx="265176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Specialise + online τₛ calibration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041648"/>
            <a:ext cx="5394960" cy="50292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041648"/>
            <a:ext cx="54864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041648"/>
            <a:ext cx="237744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Same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041648"/>
            <a:ext cx="2651760" cy="50292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Quantisation-aware training (INT8)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349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200" b="1" i="0">
                <a:solidFill>
                  <a:srgbClr val="1B7F4F"/>
                </a:solidFill>
                <a:latin typeface="Calibri"/>
              </a:rPr>
              <a:t>Final inference model:  </a:t>
            </a:r>
            <a:r>
              <a:rPr sz="1200" b="0" i="0">
                <a:solidFill>
                  <a:srgbClr val="404856"/>
                </a:solidFill>
                <a:latin typeface="Calibri"/>
              </a:rPr>
              <a:t>499.6 K params (17 % of 3 M cap), INT8 ONNX ships at 0.79 MB.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Phase-1 Empirical — KWS Backbone + Custom-Word Generalization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7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60120"/>
            <a:ext cx="6766560" cy="192024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 w="9525">
            <a:solidFill>
              <a:srgbClr val="1B7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6400800" cy="1920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7F4F"/>
                </a:solidFill>
                <a:latin typeface="Calibri"/>
              </a:rPr>
              <a:t>Measured path to ≥99 % TA Clean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4BC4"/>
                </a:solidFill>
                <a:latin typeface="Calibri"/>
              </a:rPr>
              <a:t>97.6 %</a:t>
            </a:r>
            <a:r>
              <a:rPr sz="1200" b="0" i="0">
                <a:solidFill>
                  <a:srgbClr val="404856"/>
                </a:solidFill>
                <a:latin typeface="Calibri"/>
              </a:rPr>
              <a:t>  (P0, 322 K params)   →   </a:t>
            </a:r>
            <a:r>
              <a:rPr sz="1600" b="1" i="0">
                <a:solidFill>
                  <a:srgbClr val="144BC4"/>
                </a:solidFill>
                <a:latin typeface="Calibri"/>
              </a:rPr>
              <a:t>98.2 %</a:t>
            </a:r>
            <a:r>
              <a:rPr sz="1200" b="0" i="0">
                <a:solidFill>
                  <a:srgbClr val="404856"/>
                </a:solidFill>
                <a:latin typeface="Calibri"/>
              </a:rPr>
              <a:t>  (P2 wide 705 K + label-smooth)   →   </a:t>
            </a:r>
            <a:r>
              <a:rPr sz="1600" b="1" i="0">
                <a:solidFill>
                  <a:srgbClr val="144BC4"/>
                </a:solidFill>
                <a:latin typeface="Calibri"/>
              </a:rPr>
              <a:t>98.3 %</a:t>
            </a:r>
            <a:r>
              <a:rPr sz="1200" b="0" i="0">
                <a:solidFill>
                  <a:srgbClr val="404856"/>
                </a:solidFill>
                <a:latin typeface="Calibri"/>
              </a:rPr>
              <a:t>  (P3 + WavLM final-layer distill)   →   </a:t>
            </a:r>
            <a:r>
              <a:rPr sz="1600" b="1" i="0">
                <a:solidFill>
                  <a:srgbClr val="1B7F4F"/>
                </a:solidFill>
                <a:latin typeface="Calibri"/>
              </a:rPr>
              <a:t>≥99 %</a:t>
            </a:r>
            <a:r>
              <a:rPr sz="1200" b="0" i="0">
                <a:solidFill>
                  <a:srgbClr val="404856"/>
                </a:solidFill>
                <a:latin typeface="Calibri"/>
              </a:rPr>
              <a:t>  projected (multi-layer SKILL hints + EMA).</a:t>
            </a:r>
          </a:p>
          <a:p>
            <a:pPr algn="l"/>
            <a:r>
              <a:rPr sz="1100" b="0" i="1">
                <a:solidFill>
                  <a:srgbClr val="6A7383"/>
                </a:solidFill>
                <a:latin typeface="Calibri"/>
              </a:rPr>
              <a:t>All within &lt; 24 % of the 3 M param cap.</a:t>
            </a:r>
          </a:p>
        </p:txBody>
      </p:sp>
      <p:pic>
        <p:nvPicPr>
          <p:cNvPr id="8" name="Picture 7" descr="10_custom_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02277"/>
            <a:ext cx="6766560" cy="205948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960120"/>
            <a:ext cx="4526280" cy="1417320"/>
          </a:xfrm>
          <a:prstGeom prst="roundRect">
            <a:avLst>
              <a:gd name="adj" fmla="val 6000"/>
            </a:avLst>
          </a:prstGeom>
          <a:solidFill>
            <a:srgbClr val="ECF2FC"/>
          </a:solidFill>
          <a:ln w="9525">
            <a:solidFill>
              <a:srgbClr val="1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0" y="1005840"/>
            <a:ext cx="4160520" cy="137160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4BC4"/>
                </a:solidFill>
                <a:latin typeface="Calibri"/>
              </a:rPr>
              <a:t>Headline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4BC4"/>
                </a:solidFill>
                <a:latin typeface="Calibri"/>
              </a:rPr>
              <a:t>EER = 12.43 %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  on 7 novel SC V2 keywords (700 trials).</a:t>
            </a:r>
          </a:p>
          <a:p>
            <a:pPr algn="l"/>
            <a:r>
              <a:rPr sz="1200" b="1" i="0">
                <a:solidFill>
                  <a:srgbClr val="144BC4"/>
                </a:solidFill>
                <a:latin typeface="Calibri"/>
              </a:rPr>
              <a:t>AUC = 0.934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, score separation </a:t>
            </a:r>
            <a:r>
              <a:rPr sz="1200" b="1" i="0">
                <a:solidFill>
                  <a:srgbClr val="144BC4"/>
                </a:solidFill>
                <a:latin typeface="Calibri"/>
              </a:rPr>
              <a:t>4.2×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 — at 384 K params, no WavLM teacher.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514600"/>
            <a:ext cx="4526280" cy="233172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9525">
            <a:solidFill>
              <a:srgbClr val="C32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0" y="2560320"/>
            <a:ext cx="4160520" cy="228600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3292B"/>
                </a:solidFill>
                <a:latin typeface="Calibri"/>
              </a:rPr>
              <a:t>Phonetic + cross-lingual generalisation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Within English, per-word EER 6–18 % 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(forward / follow at 6–7 %; backward / learn at 16–18 %).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404856"/>
                </a:solidFill>
                <a:latin typeface="Calibri"/>
              </a:rPr>
              <a:t>Zero-shot Tamil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(MSWC, 6 minimal-pair keywords, n=180): </a:t>
            </a:r>
            <a:r>
              <a:rPr sz="1300" b="1" i="0">
                <a:solidFill>
                  <a:srgbClr val="C3292B"/>
                </a:solidFill>
                <a:latin typeface="Calibri"/>
              </a:rPr>
              <a:t>14.7 % mean EER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  —  only </a:t>
            </a:r>
            <a:r>
              <a:rPr sz="1300" b="1" i="0">
                <a:solidFill>
                  <a:srgbClr val="C3292B"/>
                </a:solidFill>
                <a:latin typeface="Calibri"/>
              </a:rPr>
              <a:t>+2.2 pp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 above English.</a:t>
            </a:r>
          </a:p>
          <a:p>
            <a:pPr algn="l"/>
            <a:r>
              <a:rPr sz="1100" b="0" i="1">
                <a:solidFill>
                  <a:srgbClr val="404856"/>
                </a:solidFill>
                <a:latin typeface="Calibri"/>
              </a:rPr>
              <a:t>The embedder is phonetically organised, not language-specific — precondition for user-chosen triggers in any language.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937760"/>
            <a:ext cx="4526280" cy="1600200"/>
          </a:xfrm>
          <a:prstGeom prst="roundRect">
            <a:avLst>
              <a:gd name="adj" fmla="val 6000"/>
            </a:avLst>
          </a:prstGeom>
          <a:solidFill>
            <a:srgbClr val="FBF2DD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0" y="4983480"/>
            <a:ext cx="4160520" cy="155448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860B"/>
                </a:solidFill>
                <a:latin typeface="Calibri"/>
              </a:rPr>
              <a:t>Path to GREEN  (≤10 % EER)</a:t>
            </a:r>
          </a:p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Add WavLM hint-layer distillation (layers 4 / 8 / 11). Projected: ≤8 % EER, TAR ≥ 70 % at FAR = 1 %. Same 384 K student, no extra inference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Phase-1 Empirical — SV Branch POC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8 / 17</a:t>
            </a:r>
          </a:p>
        </p:txBody>
      </p:sp>
      <p:pic>
        <p:nvPicPr>
          <p:cNvPr id="6" name="Picture 5" descr="8_sv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4017"/>
            <a:ext cx="6766560" cy="30670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212080"/>
            <a:ext cx="6766560" cy="12801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000" b="0" i="1">
                <a:solidFill>
                  <a:srgbClr val="6A7383"/>
                </a:solidFill>
                <a:latin typeface="Calibri"/>
              </a:rPr>
              <a:t>Trained on VoxCeleb1 dev (1 211 speakers, 24 K utterances), evaluated on the canonical VoxCeleb1-O trial list (37 720 same / different pairs). Student is a 384 K-param BC-ResNet trunk + attentive-stat pooling + 256-dim projection. Teacher: pretrained resemblyzer (GE2E-LSTM).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960120"/>
            <a:ext cx="4526280" cy="1508760"/>
          </a:xfrm>
          <a:prstGeom prst="roundRect">
            <a:avLst>
              <a:gd name="adj" fmla="val 6000"/>
            </a:avLst>
          </a:prstGeom>
          <a:solidFill>
            <a:srgbClr val="ECF2FC"/>
          </a:solidFill>
          <a:ln w="9525">
            <a:solidFill>
              <a:srgbClr val="1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0" y="1005840"/>
            <a:ext cx="4160520" cy="146304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4BC4"/>
                </a:solidFill>
                <a:latin typeface="Calibri"/>
              </a:rPr>
              <a:t>Current state</a:t>
            </a:r>
          </a:p>
          <a:p>
            <a:pPr algn="l"/>
            <a:r>
              <a:rPr sz="1400" b="1" i="0">
                <a:solidFill>
                  <a:srgbClr val="144BC4"/>
                </a:solidFill>
                <a:latin typeface="Calibri"/>
              </a:rPr>
              <a:t>10.64 % EER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 on VoxCeleb1-O after 40 epochs joint distillation + Sub-center AAM-Softmax. Student is 384 K params — within budget for the joint student.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606040"/>
            <a:ext cx="4526280" cy="228600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9525">
            <a:solidFill>
              <a:srgbClr val="C32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0" y="2651760"/>
            <a:ext cx="4160520" cy="224028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3292B"/>
                </a:solidFill>
                <a:latin typeface="Calibri"/>
              </a:rPr>
              <a:t>Why v1 collapsed at 28.67 %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Pure cosine distillation with no classification signal — embeddings cluster at a single point, no angular discrimination.</a:t>
            </a:r>
          </a:p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Sub-center AAM with margin m = 0.2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forces speakers into separate angular cones; </a:t>
            </a:r>
            <a:r>
              <a:rPr sz="1200" b="1" i="0">
                <a:solidFill>
                  <a:srgbClr val="C3292B"/>
                </a:solidFill>
                <a:latin typeface="Calibri"/>
              </a:rPr>
              <a:t>+18 pp gain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 from the loss change alone.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5029200"/>
            <a:ext cx="4526280" cy="1417320"/>
          </a:xfrm>
          <a:prstGeom prst="roundRect">
            <a:avLst>
              <a:gd name="adj" fmla="val 6000"/>
            </a:avLst>
          </a:prstGeom>
          <a:solidFill>
            <a:srgbClr val="FBF2DD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0" y="5074920"/>
            <a:ext cx="4160520" cy="137160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860B"/>
                </a:solidFill>
                <a:latin typeface="Calibri"/>
              </a:rPr>
              <a:t>Path to ≤ 5 % (v3)</a:t>
            </a:r>
          </a:p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(i) Swap teacher to ECAPA-TDNN (1 % EER vs 4 %); (ii) tune λ_distill down; (iii) train on full VoxCeleb1 (~150 K utts) for 80 epochs.  Projected v3 EER: 4–5 %  —  competitive with x-vector at ~10× smaller.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Phase-1 Empirical — FiLM Rejection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9 / 17</a:t>
            </a:r>
          </a:p>
        </p:txBody>
      </p:sp>
      <p:pic>
        <p:nvPicPr>
          <p:cNvPr id="6" name="Picture 5" descr="9_film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13068"/>
            <a:ext cx="6766560" cy="25174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120640"/>
            <a:ext cx="6766560" cy="137160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000" b="0" i="1">
                <a:solidFill>
                  <a:srgbClr val="6A7383"/>
                </a:solidFill>
                <a:latin typeface="Calibri"/>
              </a:rPr>
              <a:t>Joint KWS + SV + FiLM model (500 K params, 400 train speakers, 8 K utts, 30 epochs). Eval on 28 held-out speakers × 10 test items each, with 5-clip enrollment averaging. Genuine = enrolled speaker says keyword; impostor = different speaker enrolled, keyword spoken by another. Collapse ratio = mean P(true_kw)_impostor / mean P(true_kw)_genuine.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960120"/>
            <a:ext cx="4526280" cy="1874519"/>
          </a:xfrm>
          <a:prstGeom prst="roundRect">
            <a:avLst>
              <a:gd name="adj" fmla="val 6000"/>
            </a:avLst>
          </a:prstGeom>
          <a:solidFill>
            <a:srgbClr val="ECF2FC"/>
          </a:solidFill>
          <a:ln w="9525">
            <a:solidFill>
              <a:srgbClr val="1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0" y="1005840"/>
            <a:ext cx="4160520" cy="182880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4BC4"/>
                </a:solidFill>
                <a:latin typeface="Calibri"/>
              </a:rPr>
              <a:t>Mechanism validated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4BC4"/>
                </a:solidFill>
                <a:latin typeface="Calibri"/>
              </a:rPr>
              <a:t>95 % TAR + 86 % impostor-rejection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 at 14 % FAR when train + eval embedding distributions are matched (v2 own-audio diagnostic).</a:t>
            </a:r>
          </a:p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Probability collapse ratio </a:t>
            </a:r>
            <a:r>
              <a:rPr sz="1300" b="1" i="0">
                <a:solidFill>
                  <a:srgbClr val="144BC4"/>
                </a:solidFill>
                <a:latin typeface="Calibri"/>
              </a:rPr>
              <a:t>0.20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  —  impostors get ~5× less keyword confidence than genuine.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971800"/>
            <a:ext cx="4526280" cy="192024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9525">
            <a:solidFill>
              <a:srgbClr val="C32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0" y="3017520"/>
            <a:ext cx="4160520" cy="1874519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3292B"/>
                </a:solidFill>
                <a:latin typeface="Calibri"/>
              </a:rPr>
              <a:t>Trade-off characterised</a:t>
            </a:r>
          </a:p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Closing the train / eval gap (v3 paired enrollment) lifts TAR to 92 % but loosens rejection — FAR jumps to </a:t>
            </a:r>
            <a:r>
              <a:rPr sz="1300" b="1" i="0">
                <a:solidFill>
                  <a:srgbClr val="C3292B"/>
                </a:solidFill>
                <a:latin typeface="Calibri"/>
              </a:rPr>
              <a:t>48 %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.  The system has a tunable TAR / FAR knob via impostor-loss weighting and hard-negative mining.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5029200"/>
            <a:ext cx="4526280" cy="1417320"/>
          </a:xfrm>
          <a:prstGeom prst="roundRect">
            <a:avLst>
              <a:gd name="adj" fmla="val 6000"/>
            </a:avLst>
          </a:prstGeom>
          <a:solidFill>
            <a:srgbClr val="FBF2DD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0" y="5074920"/>
            <a:ext cx="4160520" cy="137160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860B"/>
                </a:solidFill>
                <a:latin typeface="Calibri"/>
              </a:rPr>
              <a:t>Path to deployment (v4)</a:t>
            </a:r>
          </a:p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Hard-negative mining + λ_imp = 2 + max-impostor-ratio 0.7.  Target: ≥ 85 % TAR + ≤ 25 % FAR + ≥ 70 % REJ at the production operating 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Phase-1 Empirical — Deployment Latency &amp; Cocktail-Party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10 / 17</a:t>
            </a:r>
          </a:p>
        </p:txBody>
      </p:sp>
      <p:pic>
        <p:nvPicPr>
          <p:cNvPr id="6" name="Picture 5" descr="11_deplo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72422"/>
            <a:ext cx="6675120" cy="25185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3840480"/>
            <a:ext cx="6675120" cy="2697480"/>
          </a:xfrm>
          <a:prstGeom prst="roundRect">
            <a:avLst>
              <a:gd name="adj" fmla="val 6000"/>
            </a:avLst>
          </a:prstGeom>
          <a:solidFill>
            <a:srgbClr val="ECF2FC"/>
          </a:solidFill>
          <a:ln w="9525">
            <a:solidFill>
              <a:srgbClr val="1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6400800" cy="2651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4BC4"/>
                </a:solidFill>
                <a:latin typeface="Calibri"/>
              </a:rPr>
              <a:t>xRT  ·  comfortable PASS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Pi 4B INT8: </a:t>
            </a:r>
            <a:r>
              <a:rPr sz="1300" b="1" i="0">
                <a:solidFill>
                  <a:srgbClr val="144BC4"/>
                </a:solidFill>
                <a:latin typeface="Calibri"/>
              </a:rPr>
              <a:t>12 ms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 end-to-end vs </a:t>
            </a:r>
            <a:r>
              <a:rPr sz="1300" b="1" i="0">
                <a:solidFill>
                  <a:srgbClr val="144BC4"/>
                </a:solidFill>
                <a:latin typeface="Calibri"/>
              </a:rPr>
              <a:t>200 ms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 budget — </a:t>
            </a:r>
            <a:r>
              <a:rPr sz="1300" b="1" i="0">
                <a:solidFill>
                  <a:srgbClr val="1B7F4F"/>
                </a:solidFill>
                <a:latin typeface="Calibri"/>
              </a:rPr>
              <a:t>17× headroom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. Even FP32 at 17 ms clears 12×.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F1B3D"/>
                </a:solidFill>
                <a:latin typeface="Calibri"/>
              </a:rPr>
              <a:t>Param + size budget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499.6 K params (17 % of 3 M cap), INT8 ONNX ships at </a:t>
            </a:r>
            <a:r>
              <a:rPr sz="1200" b="1" i="0">
                <a:solidFill>
                  <a:srgbClr val="144BC4"/>
                </a:solidFill>
                <a:latin typeface="Calibri"/>
              </a:rPr>
              <a:t>0.79 MB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 (2.6× shrink from 2.05 MB FP32).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F1B3D"/>
                </a:solidFill>
                <a:latin typeface="Calibri"/>
              </a:rPr>
              <a:t>Numeric fidelity</a:t>
            </a:r>
          </a:p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FP32 ONNX vs PyTorch max-abs-diff &lt; 3×10⁻⁶ (essentially exact); INT8 drift compensated by QAT (Stage 4).</a:t>
            </a:r>
          </a:p>
        </p:txBody>
      </p:sp>
      <p:pic>
        <p:nvPicPr>
          <p:cNvPr id="9" name="Picture 8" descr="12_babble_robus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01494"/>
            <a:ext cx="4572000" cy="166045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269480" y="3840480"/>
            <a:ext cx="4572000" cy="269748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 w="9525">
            <a:solidFill>
              <a:srgbClr val="1B7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52360" y="3886200"/>
            <a:ext cx="4297680" cy="2651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7F4F"/>
                </a:solidFill>
                <a:latin typeface="Calibri"/>
              </a:rPr>
              <a:t>Cocktail-party robustness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Babble augmentation (40 % of batches, 1–2 voices) lifts </a:t>
            </a:r>
            <a:r>
              <a:rPr sz="1200" b="1" i="0">
                <a:solidFill>
                  <a:srgbClr val="1B7F4F"/>
                </a:solidFill>
                <a:latin typeface="Calibri"/>
              </a:rPr>
              <a:t>+19 pp at −5 dB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, </a:t>
            </a:r>
            <a:r>
              <a:rPr sz="1200" b="1" i="0">
                <a:solidFill>
                  <a:srgbClr val="1B7F4F"/>
                </a:solidFill>
                <a:latin typeface="Calibri"/>
              </a:rPr>
              <a:t>+21 pp at 0 dB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; clean cost only −0.5 pp.</a:t>
            </a:r>
          </a:p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N = 3 voices generalisation holds: </a:t>
            </a:r>
            <a:r>
              <a:rPr sz="1300" b="1" i="0">
                <a:solidFill>
                  <a:srgbClr val="1B7F4F"/>
                </a:solidFill>
                <a:latin typeface="Calibri"/>
              </a:rPr>
              <a:t>90 % at 10 dB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 with three simultaneous speakers — within KPI envelope across the realistic-noise band.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Novelty &amp; Innovation — FAR-in-the-Loop Training (hero)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11 / 17</a:t>
            </a:r>
          </a:p>
        </p:txBody>
      </p:sp>
      <p:pic>
        <p:nvPicPr>
          <p:cNvPr id="6" name="Picture 5" descr="3_far_in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11093"/>
            <a:ext cx="11430000" cy="209261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3337560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9525">
            <a:solidFill>
              <a:srgbClr val="C32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3447288"/>
            <a:ext cx="3291840" cy="41148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300" b="1" i="0">
                <a:solidFill>
                  <a:srgbClr val="C3292B"/>
                </a:solidFill>
                <a:latin typeface="Calibri"/>
              </a:rPr>
              <a:t>Core invention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3200400" cy="23317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The deployment false-accept threshold τₛ is re-estimated every 500 training steps on a held-out impostor pool.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404856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The resulting FRR-at-target-FAR is fed back as a differentiable soft penalty in the joint 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3337560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ECF2FC"/>
          </a:solidFill>
          <a:ln w="9525">
            <a:solidFill>
              <a:srgbClr val="1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16552" y="3447288"/>
            <a:ext cx="3291840" cy="41148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300" b="1" i="0">
                <a:solidFill>
                  <a:srgbClr val="144BC4"/>
                </a:solidFill>
                <a:latin typeface="Calibr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3886200"/>
            <a:ext cx="3200400" cy="23317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Conventional pipelines treat τₛ as a post-hoc deployment knob.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404856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If the training loss never sees the FA &lt; 1 / hr constraint, the embedding geometry cannot cluster tightly enough for any threshold to satisfy it.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404856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404856"/>
                </a:solidFill>
                <a:latin typeface="Calibri"/>
              </a:rPr>
              <a:t>Ref: PK-MTL — vanilla BC-ResNet hits 64.32 % FRR in target-only KWS; task-adaptive training brings this to 6.56 %.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3337560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 w="9525">
            <a:solidFill>
              <a:srgbClr val="1B7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93024" y="3447288"/>
            <a:ext cx="3291840" cy="41148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300" b="1" i="0">
                <a:solidFill>
                  <a:srgbClr val="1B7F4F"/>
                </a:solidFill>
                <a:latin typeface="Calibri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3886200"/>
            <a:ext cx="3200400" cy="23317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The operating point is baked into the embedding geometry — not tuned around it.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404856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FA &lt; 1 / hr becomes a property of the trained model, not of a post-hoc threshold sweep.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Novelty &amp;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12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60120"/>
            <a:ext cx="11247120" cy="178308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9525">
            <a:solidFill>
              <a:srgbClr val="C32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17373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3292B"/>
                </a:solidFill>
                <a:latin typeface="Calibri"/>
              </a:rPr>
              <a:t>Core novelty  ·  structural false-accept rejection via FiLM-conditioned KWS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04856"/>
                </a:solidFill>
                <a:latin typeface="Calibri"/>
              </a:rPr>
              <a:t>Conventional personalised wake-word systems run KWS and SV as independent gates and AND the decisions — any leakage between heads or threshold drift breaks the FA &lt; 1 / hr budget.</a:t>
            </a:r>
          </a:p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We instead modulate the KWS classifier's intermediate features with the enrolled user's voice embedding, so the same audio produces different logits for different enrolled users. Impostor rejection becomes a property of the network, not of a tunable threshold.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560527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5239512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200" b="1" i="0">
                <a:solidFill>
                  <a:srgbClr val="0F1B3D"/>
                </a:solidFill>
                <a:latin typeface="Calibri"/>
              </a:rPr>
              <a:t>Layer-ensemble WavLM distillation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5239512" cy="114300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Three learnable softmax weights over WavLM layers {4, 8, 11} — beats single-layer choice (SKILL, Interspeech 2024). Phase-1 validated at the final-layer simplest form (+0.7 pp KWS clean).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926080"/>
            <a:ext cx="560527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09360" y="3017520"/>
            <a:ext cx="5239512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200" b="1" i="0">
                <a:solidFill>
                  <a:srgbClr val="0F1B3D"/>
                </a:solidFill>
                <a:latin typeface="Calibri"/>
              </a:rPr>
              <a:t>Multi-level ECAPA distillation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383280"/>
            <a:ext cx="5239512" cy="114300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Cosine on final embedding + MSE on block-2 and block-3 features (projected via 1×1 conv) — ~5 % relative EER reduction over final-only KD.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54880"/>
            <a:ext cx="560527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5239512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200" b="1" i="0">
                <a:solidFill>
                  <a:srgbClr val="0F1B3D"/>
                </a:solidFill>
                <a:latin typeface="Calibri"/>
              </a:rPr>
              <a:t>Phonetic confusable hard-negative mining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5239512" cy="114300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TIMIT phone-confusion-weighted Levenshtein on G2P output, sampled at 3× during training — directly targets the FA &lt; 1 / hr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754880"/>
            <a:ext cx="560527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9360" y="4846320"/>
            <a:ext cx="5239512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200" b="1" i="0">
                <a:solidFill>
                  <a:srgbClr val="0F1B3D"/>
                </a:solidFill>
                <a:latin typeface="Calibri"/>
              </a:rPr>
              <a:t>Considered &amp; rejected alternatives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212080"/>
            <a:ext cx="5239512" cy="114300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Audio Mamba — 5× BC-ResNet params for equal clean acc., deploy immature.  ·  LEAF / SincNet — only PCEN actually trains; already covered.  ·  GRL adversarial — removes the speaker signal we need.  ·  Deep cross-attn — 4× compute, breaks xRT budget.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Open Datasets — Used &amp; To Be Published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13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3B8E"/>
                </a:solidFill>
                <a:latin typeface="Calibri"/>
              </a:rPr>
              <a:t>To be used  (all permissive licences, downloadable)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solidFill>
            <a:srgbClr val="14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3017520" cy="384048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463040"/>
            <a:ext cx="5943600" cy="384048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463040"/>
            <a:ext cx="1737360" cy="384048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Licence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874520"/>
            <a:ext cx="10881360" cy="4114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74520"/>
            <a:ext cx="301752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Google Speech Commands v0.02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874520"/>
            <a:ext cx="594360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KWS positives + general negatives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1874520"/>
            <a:ext cx="17373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CC-BY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286000"/>
            <a:ext cx="301752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VoxCeleb1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286000"/>
            <a:ext cx="594360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Speaker verification + impostor pool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286000"/>
            <a:ext cx="17373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CC-BY 4.0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10881360" cy="4114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97480"/>
            <a:ext cx="301752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LibriPhrase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697480"/>
            <a:ext cx="594360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Joint phrase + speaker fine-tuning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697480"/>
            <a:ext cx="17373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08960"/>
            <a:ext cx="301752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MUSAN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108960"/>
            <a:ext cx="594360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Crowd / babble / traffic noise injection (−5 to 30 dB)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108960"/>
            <a:ext cx="17373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CC-BY 4.0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520440"/>
            <a:ext cx="10881360" cy="4114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520440"/>
            <a:ext cx="301752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OpenSLR RIRs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520440"/>
            <a:ext cx="594360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Room impulse responses → 0.5–5 m distance 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520440"/>
            <a:ext cx="17373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Apache-2.0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931920"/>
            <a:ext cx="301752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MLCommons MSWC  (H1 eval)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931920"/>
            <a:ext cx="594360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Multilingual zero-shot keyword generalisation (Tamil)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931920"/>
            <a:ext cx="17373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CC-BY 4.0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3B8E"/>
                </a:solidFill>
                <a:latin typeface="Calibri"/>
              </a:rPr>
              <a:t>To be published  (Apache-2.0)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349240"/>
            <a:ext cx="11247120" cy="1234440"/>
          </a:xfrm>
          <a:prstGeom prst="roundRect">
            <a:avLst>
              <a:gd name="adj" fmla="val 6000"/>
            </a:avLst>
          </a:prstGeom>
          <a:solidFill>
            <a:srgbClr val="FBF2DD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5394960"/>
            <a:ext cx="10972800" cy="11887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/>
            <a:r>
              <a:rPr sz="1200" b="1" i="0">
                <a:solidFill>
                  <a:srgbClr val="B8860B"/>
                </a:solidFill>
                <a:latin typeface="Calibri"/>
              </a:rPr>
              <a:t>Confusable-trigger benchmark. 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For any chosen trigger word, the mined top-50 phonetic confusables synthesised in 100+ XTTS-v2 voices + their RIR / MUSAN augmentations. Useful for any future personalised-KWS work targeting FA &lt; 1 / hr. Released under Apache-2.0.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Open Models — Used &amp; Developed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14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3B8E"/>
                </a:solidFill>
                <a:latin typeface="Calibri"/>
              </a:rPr>
              <a:t>To be used  (frozen, distillation teachers)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solidFill>
            <a:srgbClr val="144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651760" cy="384048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463040"/>
            <a:ext cx="5394960" cy="384048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463040"/>
            <a:ext cx="2651760" cy="384048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Source / Licence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874520"/>
            <a:ext cx="10881360" cy="4114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74520"/>
            <a:ext cx="26517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WavLM-Base+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74520"/>
            <a:ext cx="53949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Phonetic / noise-robust teacher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874520"/>
            <a:ext cx="26517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microsoft/wavlm-base-plus · 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286000"/>
            <a:ext cx="26517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ECAPA-TDNN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86000"/>
            <a:ext cx="53949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Speaker biometric teacher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286000"/>
            <a:ext cx="26517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speechbrain/spkrec-ecapa · Apache-2.0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10881360" cy="4114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97480"/>
            <a:ext cx="26517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XTTS-v2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697480"/>
            <a:ext cx="53949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Multi-voice TTS for trigger augmentation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697480"/>
            <a:ext cx="26517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coqui/XTTS-v2 · CPML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08960"/>
            <a:ext cx="26517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g2p-en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108960"/>
            <a:ext cx="53949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Trigger word → ARPAbet phones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108960"/>
            <a:ext cx="2651760" cy="41148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Apache-2.0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3B8E"/>
                </a:solidFill>
                <a:latin typeface="Calibri"/>
              </a:rPr>
              <a:t>To be developed / trained from scratch  (Apache-2.0)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43400"/>
            <a:ext cx="112471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40080" y="4434840"/>
            <a:ext cx="10881360" cy="384048"/>
          </a:xfrm>
          <a:prstGeom prst="rect">
            <a:avLst/>
          </a:prstGeom>
          <a:solidFill>
            <a:srgbClr val="1B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34840"/>
            <a:ext cx="3566160" cy="384048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434840"/>
            <a:ext cx="7132320" cy="384048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846320"/>
            <a:ext cx="10881360" cy="5943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846320"/>
            <a:ext cx="3566160" cy="59436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BC-ResNet-8 (modified) joint student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846320"/>
            <a:ext cx="7132320" cy="59436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TRM branching, FiLM speaker conditioning, MQMHA SV pooling — joint KWS + SV, ~830 K params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40680"/>
            <a:ext cx="3566160" cy="59436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WavLM → KWS probing head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440680"/>
            <a:ext cx="7132320" cy="59436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2-layer MLP, ~50 K params, one-time training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035040"/>
            <a:ext cx="10881360" cy="5943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035040"/>
            <a:ext cx="3566160" cy="59436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1" i="0">
                <a:solidFill>
                  <a:srgbClr val="0F1B3D"/>
                </a:solidFill>
                <a:latin typeface="Calibri"/>
              </a:rPr>
              <a:t>INT8-quantised ONNX 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035040"/>
            <a:ext cx="7132320" cy="59436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1100" b="0" i="0">
                <a:solidFill>
                  <a:srgbClr val="404856"/>
                </a:solidFill>
                <a:latin typeface="Calibri"/>
              </a:rPr>
              <a:t>Edge-deployable artefact — 0.79 MB on disk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Deployment &amp; Demo Plan (for Grand Finale)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15 / 17</a:t>
            </a:r>
          </a:p>
        </p:txBody>
      </p:sp>
      <p:pic>
        <p:nvPicPr>
          <p:cNvPr id="6" name="Picture 5" descr="5_enrollment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39" y="960120"/>
            <a:ext cx="3909921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00800"/>
            <a:ext cx="475488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ctr"/>
            <a:r>
              <a:rPr sz="900" b="0" i="1">
                <a:solidFill>
                  <a:srgbClr val="6A7383"/>
                </a:solidFill>
                <a:latin typeface="Calibri"/>
              </a:rPr>
              <a:t>Enrollment → runtime flow (5 utts ~30 s → stored ID prototype → online inference).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960120"/>
            <a:ext cx="6400800" cy="4206240"/>
          </a:xfrm>
          <a:prstGeom prst="roundRect">
            <a:avLst>
              <a:gd name="adj" fmla="val 6000"/>
            </a:avLst>
          </a:prstGeom>
          <a:solidFill>
            <a:srgbClr val="ECF2FC"/>
          </a:solidFill>
          <a:ln w="9525">
            <a:solidFill>
              <a:srgbClr val="144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23560" y="1051560"/>
            <a:ext cx="5943600" cy="411480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44BC4"/>
                </a:solidFill>
                <a:latin typeface="Calibri"/>
              </a:rPr>
              <a:t>Live demo script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44BC4"/>
                </a:solidFill>
                <a:latin typeface="Calibri"/>
              </a:rPr>
              <a:t>1.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Enroll a live judge:  </a:t>
            </a:r>
            <a:r>
              <a:rPr sz="1200" b="0" i="0">
                <a:solidFill>
                  <a:srgbClr val="404856"/>
                </a:solidFill>
                <a:latin typeface="Calibri"/>
              </a:rPr>
              <a:t>5 clean utterances (~30 s) → stored speaker prototype.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44BC4"/>
                </a:solidFill>
                <a:latin typeface="Calibri"/>
              </a:rPr>
              <a:t>2.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Clean trigger </a:t>
            </a:r>
            <a:r>
              <a:rPr sz="1200" b="0" i="0">
                <a:solidFill>
                  <a:srgbClr val="404856"/>
                </a:solidFill>
                <a:latin typeface="Calibri"/>
              </a:rPr>
              <a:t>from the judge   →   </a:t>
            </a:r>
            <a:r>
              <a:rPr sz="1200" b="1" i="0">
                <a:solidFill>
                  <a:srgbClr val="1B7F4F"/>
                </a:solidFill>
                <a:latin typeface="Calibri"/>
              </a:rPr>
              <a:t>fires.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44BC4"/>
                </a:solidFill>
                <a:latin typeface="Calibri"/>
              </a:rPr>
              <a:t>3.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Noisy trigger </a:t>
            </a:r>
            <a:r>
              <a:rPr sz="1200" b="0" i="0">
                <a:solidFill>
                  <a:srgbClr val="404856"/>
                </a:solidFill>
                <a:latin typeface="Calibri"/>
              </a:rPr>
              <a:t>— traffic at −5 dB from phone speaker   →   </a:t>
            </a:r>
            <a:r>
              <a:rPr sz="1200" b="1" i="0">
                <a:solidFill>
                  <a:srgbClr val="1B7F4F"/>
                </a:solidFill>
                <a:latin typeface="Calibri"/>
              </a:rPr>
              <a:t>fires.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44BC4"/>
                </a:solidFill>
                <a:latin typeface="Calibri"/>
              </a:rPr>
              <a:t>4.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Impostor </a:t>
            </a:r>
            <a:r>
              <a:rPr sz="1200" b="0" i="0">
                <a:solidFill>
                  <a:srgbClr val="404856"/>
                </a:solidFill>
                <a:latin typeface="Calibri"/>
              </a:rPr>
              <a:t>(teammate) says the same word   →   </a:t>
            </a:r>
            <a:r>
              <a:rPr sz="1200" b="1" i="0">
                <a:solidFill>
                  <a:srgbClr val="C3292B"/>
                </a:solidFill>
                <a:latin typeface="Calibri"/>
              </a:rPr>
              <a:t>rejected.</a:t>
            </a:r>
          </a:p>
          <a:p>
            <a:pPr algn="l"/>
            <a:r>
              <a:rPr sz="1200" b="1" i="0">
                <a:solidFill>
                  <a:srgbClr val="144BC4"/>
                </a:solidFill>
                <a:latin typeface="Calibri"/>
              </a:rPr>
              <a:t>5.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Confusable </a:t>
            </a:r>
            <a:r>
              <a:rPr sz="1200" b="0" i="0">
                <a:solidFill>
                  <a:srgbClr val="404856"/>
                </a:solidFill>
                <a:latin typeface="Calibri"/>
              </a:rPr>
              <a:t>phrase ("turn on" vs "turn off")   →   </a:t>
            </a:r>
            <a:r>
              <a:rPr sz="1200" b="1" i="0">
                <a:solidFill>
                  <a:srgbClr val="C3292B"/>
                </a:solidFill>
                <a:latin typeface="Calibri"/>
              </a:rPr>
              <a:t>rejected.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5349240"/>
            <a:ext cx="6400800" cy="1325880"/>
          </a:xfrm>
          <a:prstGeom prst="roundRect">
            <a:avLst>
              <a:gd name="adj" fmla="val 6000"/>
            </a:avLst>
          </a:prstGeom>
          <a:solidFill>
            <a:srgbClr val="FBF2DD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23560" y="5440680"/>
            <a:ext cx="5943600" cy="123444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860B"/>
                </a:solidFill>
                <a:latin typeface="Calibri"/>
              </a:rPr>
              <a:t>Hardware</a:t>
            </a:r>
          </a:p>
          <a:p>
            <a:pPr algn="l"/>
            <a:r>
              <a:rPr sz="1200" b="1" i="0">
                <a:solidFill>
                  <a:srgbClr val="0F1B3D"/>
                </a:solidFill>
                <a:latin typeface="Calibri"/>
              </a:rPr>
              <a:t>Raspberry Pi 4B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(conservative spec) </a:t>
            </a:r>
            <a:r>
              <a:rPr sz="1200" b="0" i="0">
                <a:solidFill>
                  <a:srgbClr val="404856"/>
                </a:solidFill>
                <a:latin typeface="Calibri"/>
              </a:rPr>
              <a:t>or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Galaxy-class NPU via QNN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.  No network connection during demo — entirely on-device.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60175" cy="77724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AI / GenAI / Agentic Tools &amp;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1188720" cy="27432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r"/>
            <a:r>
              <a:rPr sz="900" b="0" i="0">
                <a:solidFill>
                  <a:srgbClr val="6A7383"/>
                </a:solidFill>
                <a:latin typeface="Calibri"/>
              </a:rPr>
              <a:t>16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3B8E"/>
                </a:solidFill>
                <a:latin typeface="Calibri"/>
              </a:rPr>
              <a:t>Tools 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212080" cy="489204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4BC4"/>
                </a:solidFill>
                <a:latin typeface="Calibri"/>
              </a:rPr>
              <a:t>• PyTorch 2.x 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+ torch.compile(mode="reduce-overhead") for ~15 % Kaggle speedup.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4BC4"/>
                </a:solidFill>
                <a:latin typeface="Calibri"/>
              </a:rPr>
              <a:t>• HuggingFace Transformers / SpeechBrain 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frozen teacher inference (WavLM, ECAPA).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4BC4"/>
                </a:solidFill>
                <a:latin typeface="Calibri"/>
              </a:rPr>
              <a:t>• Coqui XTTS-v2 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generative-AI component for synthetic speaker diversity in trigger and confusable data.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4BC4"/>
                </a:solidFill>
                <a:latin typeface="Calibri"/>
              </a:rPr>
              <a:t>• Optuna (TPE sampler) 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automated multi-task loss-weight + AAM hyperparameter search, scoped to Stage 2.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4BC4"/>
                </a:solidFill>
                <a:latin typeface="Calibri"/>
              </a:rPr>
              <a:t>• ONNX Runtime + Quantization Toolkit 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INT8 edge export and latency benchmarking.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4BC4"/>
                </a:solidFill>
                <a:latin typeface="Calibri"/>
              </a:rPr>
              <a:t>• Google kws_streaming 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reference for stateful streaming inference.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4BC4"/>
                </a:solidFill>
                <a:latin typeface="Calibri"/>
              </a:rPr>
              <a:t>• Claude Code (Anthropic CLI) 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agentic AI pair-programmer used throughout for code generation, blueprint iteration, multilingual eval, and PPTX rendering.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960120"/>
            <a:ext cx="5486400" cy="36576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3B8E"/>
                </a:solidFill>
                <a:latin typeface="Calibri"/>
              </a:rPr>
              <a:t>Best practices uncovered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212080" cy="489204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3292B"/>
                </a:solidFill>
                <a:latin typeface="Calibri"/>
              </a:rPr>
              <a:t>1.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Symmetric augmentation in distillation. 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Teacher and student must see the same augmented audio, otherwise the student collapses to the teacher's clean manifold.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3292B"/>
                </a:solidFill>
                <a:latin typeface="Calibri"/>
              </a:rPr>
              <a:t>2.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Multi-level KD beats single-layer KD 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for both phonetic (WavLM) and biometric (ECAPA) teachers — measured ~5 % relative metric gain.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3292B"/>
                </a:solidFill>
                <a:latin typeface="Calibri"/>
              </a:rPr>
              <a:t>3.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Bake the deployment operating point into training 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(online τₛ calibration). Post-hoc thresholding cannot fix an embedding space that wasn't trained to be FAR-aware.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3292B"/>
                </a:solidFill>
                <a:latin typeface="Calibri"/>
              </a:rPr>
              <a:t>4.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Structural conditioning &gt; threshold gating 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for personalised triggers. FiLM-modulated KWS is materially safer for FA-bounded scenarios than "AND of two independent classifiers".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3292B"/>
                </a:solidFill>
                <a:latin typeface="Calibri"/>
              </a:rPr>
              <a:t>5.  </a:t>
            </a:r>
            <a:r>
              <a:rPr sz="1200" b="1" i="0">
                <a:solidFill>
                  <a:srgbClr val="0F1B3D"/>
                </a:solidFill>
                <a:latin typeface="Calibri"/>
              </a:rPr>
              <a:t>Curriculum on SNR, not just on data difficulty.  </a:t>
            </a:r>
            <a:r>
              <a:rPr sz="1100" b="0" i="0">
                <a:solidFill>
                  <a:srgbClr val="404856"/>
                </a:solidFill>
                <a:latin typeface="Calibri"/>
              </a:rPr>
              <a:t>Starting at −5 dB diverges; ramp from 30 → −5 dB across the first 15 epochs.</a:t>
            </a:r>
          </a:p>
          <a:p>
            <a:pPr algn="l">
              <a:spcBef>
                <a:spcPts val="400"/>
              </a:spcBef>
            </a:pPr>
            <a:r>
              <a:rPr sz="1100" b="1" i="0">
                <a:solidFill>
                  <a:srgbClr val="1B7F4F"/>
                </a:solidFill>
                <a:latin typeface="Calibri"/>
              </a:rPr>
              <a:t>Licence:  </a:t>
            </a:r>
            <a:r>
              <a:rPr sz="1100" b="0" i="1">
                <a:solidFill>
                  <a:srgbClr val="404856"/>
                </a:solidFill>
                <a:latin typeface="Calibri"/>
              </a:rPr>
              <a:t>all code, weights, and the published benchmark released under Apache-2.0, per hackathon rules.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1371600"/>
          </a:xfrm>
          <a:prstGeom prst="rect">
            <a:avLst/>
          </a:prstGeom>
          <a:noFill/>
        </p:spPr>
        <p:txBody>
          <a:bodyPr wrap="square" lIns="73152" rIns="73152" tIns="43891" bIns="43891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Closing the FA &lt; 1 / hr gap on &lt; 3 M params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655" cy="54864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FAR-in-the-Loop training</a:t>
            </a:r>
            <a:r>
              <a:rPr sz="1800" b="0" i="0">
                <a:solidFill>
                  <a:srgbClr val="B8860B"/>
                </a:solidFill>
                <a:latin typeface="Calibri"/>
              </a:rPr>
              <a:t>    ·  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FiLM-conditioned KWS</a:t>
            </a:r>
            <a:r>
              <a:rPr sz="1800" b="0" i="0">
                <a:solidFill>
                  <a:srgbClr val="B8860B"/>
                </a:solidFill>
                <a:latin typeface="Calibri"/>
              </a:rPr>
              <a:t>    ·  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Multi-teacher distillation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8655" cy="146304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ctr"/>
            <a:r>
              <a:rPr sz="1400" b="0" i="1">
                <a:solidFill>
                  <a:srgbClr val="CCD3E0"/>
                </a:solidFill>
                <a:latin typeface="Calibri"/>
              </a:rPr>
              <a:t>Phase-1 measured  ·  </a:t>
            </a:r>
            <a:r>
              <a:rPr sz="1600" b="1" i="0">
                <a:solidFill>
                  <a:srgbClr val="B8860B"/>
                </a:solidFill>
                <a:latin typeface="Calibri"/>
              </a:rPr>
              <a:t>KWS clean 98.3 %</a:t>
            </a:r>
            <a:r>
              <a:rPr sz="1400" b="0" i="0">
                <a:solidFill>
                  <a:srgbClr val="CCD3E0"/>
                </a:solidFill>
                <a:latin typeface="Calibri"/>
              </a:rPr>
              <a:t>  ·  </a:t>
            </a:r>
            <a:r>
              <a:rPr sz="1600" b="1" i="0">
                <a:solidFill>
                  <a:srgbClr val="B8860B"/>
                </a:solidFill>
                <a:latin typeface="Calibri"/>
              </a:rPr>
              <a:t>English EER 12.4 %</a:t>
            </a:r>
            <a:r>
              <a:rPr sz="1400" b="0" i="0">
                <a:solidFill>
                  <a:srgbClr val="CCD3E0"/>
                </a:solidFill>
                <a:latin typeface="Calibri"/>
              </a:rPr>
              <a:t>  ·  </a:t>
            </a:r>
            <a:r>
              <a:rPr sz="1600" b="1" i="0">
                <a:solidFill>
                  <a:srgbClr val="B8860B"/>
                </a:solidFill>
                <a:latin typeface="Calibri"/>
              </a:rPr>
              <a:t>Tamil zero-shot 14.7 %</a:t>
            </a:r>
            <a:r>
              <a:rPr sz="1400" b="0" i="0">
                <a:solidFill>
                  <a:srgbClr val="CCD3E0"/>
                </a:solidFill>
                <a:latin typeface="Calibri"/>
              </a:rPr>
              <a:t>  ·  </a:t>
            </a:r>
            <a:r>
              <a:rPr sz="1600" b="1" i="0">
                <a:solidFill>
                  <a:srgbClr val="B8860B"/>
                </a:solidFill>
                <a:latin typeface="Calibri"/>
              </a:rPr>
              <a:t>Pi 4B INT8 12 ms</a:t>
            </a:r>
            <a:r>
              <a:rPr sz="1400" b="0" i="0">
                <a:solidFill>
                  <a:srgbClr val="CCD3E0"/>
                </a:solidFill>
                <a:latin typeface="Calibri"/>
              </a:rPr>
              <a:t>  ·  </a:t>
            </a:r>
            <a:r>
              <a:rPr sz="1600" b="1" i="0">
                <a:solidFill>
                  <a:srgbClr val="B8860B"/>
                </a:solidFill>
                <a:latin typeface="Calibri"/>
              </a:rPr>
              <a:t>499 K params (17 % cap)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square" lIns="73152" rIns="73152" tIns="43891" bIns="43891" anchor="t">
            <a:spAutoFit/>
          </a:bodyPr>
          <a:lstStyle/>
          <a:p>
            <a:pPr algn="ctr"/>
            <a:r>
              <a:rPr sz="1300" b="0" i="1">
                <a:solidFill>
                  <a:srgbClr val="CCD3E0"/>
                </a:solidFill>
                <a:latin typeface="Calibri"/>
              </a:rPr>
              <a:t>Team MalayM09  ·  Malay Mishra  ·  BITS Pilani  ·  Problem PS04  ·  Apache-2.0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