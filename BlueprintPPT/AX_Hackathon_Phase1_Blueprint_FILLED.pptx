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Team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03B8E"/>
                </a:solidFill>
                <a:latin typeface="Calibri"/>
              </a:rPr>
              <a:t>Team 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800" b="1" i="0">
                <a:solidFill>
                  <a:srgbClr val="0F1B3D"/>
                </a:solidFill>
                <a:latin typeface="Calibri"/>
              </a:rPr>
              <a:t>Team MalayM09 — sole-team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03B8E"/>
                </a:solidFill>
                <a:latin typeface="Calibri"/>
              </a:rPr>
              <a:t>Team Member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34640"/>
            <a:ext cx="1124712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10515600" cy="31089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 i="0">
                <a:solidFill>
                  <a:srgbClr val="0F1B3D"/>
                </a:solidFill>
                <a:latin typeface="Calibri"/>
              </a:rPr>
              <a:t>Malay Mishra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3B8E"/>
                </a:solidFill>
                <a:latin typeface="Calibri"/>
              </a:rPr>
              <a:t>College  </a:t>
            </a:r>
            <a:r>
              <a:rPr sz="1300" b="0" i="0">
                <a:solidFill>
                  <a:srgbClr val="404856"/>
                </a:solidFill>
                <a:latin typeface="Calibri"/>
              </a:rPr>
              <a:t>BITS Pilani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3B8E"/>
                </a:solidFill>
                <a:latin typeface="Calibri"/>
              </a:rPr>
              <a:t>Department  </a:t>
            </a:r>
            <a:r>
              <a:rPr sz="1300" b="0" i="0">
                <a:solidFill>
                  <a:srgbClr val="404856"/>
                </a:solidFill>
                <a:latin typeface="Calibri"/>
              </a:rPr>
              <a:t>Electronics &amp; Communication / CS dual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3B8E"/>
                </a:solidFill>
                <a:latin typeface="Calibri"/>
              </a:rPr>
              <a:t>Year  </a:t>
            </a:r>
            <a:r>
              <a:rPr sz="1300" b="0" i="0">
                <a:solidFill>
                  <a:srgbClr val="404856"/>
                </a:solidFill>
                <a:latin typeface="Calibri"/>
              </a:rPr>
              <a:t>Pre-final year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3B8E"/>
                </a:solidFill>
                <a:latin typeface="Calibri"/>
              </a:rPr>
              <a:t>Email  </a:t>
            </a:r>
            <a:r>
              <a:rPr sz="1300" b="0" i="0">
                <a:solidFill>
                  <a:srgbClr val="404856"/>
                </a:solidFill>
                <a:latin typeface="Calibri"/>
              </a:rPr>
              <a:t>—  (filled at submission)</a:t>
            </a:r>
          </a:p>
          <a:p>
            <a:pPr algn="l"/>
            <a:r>
              <a:rPr sz="1300" b="1" i="0">
                <a:solidFill>
                  <a:srgbClr val="003B8E"/>
                </a:solidFill>
                <a:latin typeface="Calibri"/>
              </a:rPr>
              <a:t>GitHub  </a:t>
            </a:r>
            <a:r>
              <a:rPr sz="1300" b="0" i="0">
                <a:solidFill>
                  <a:srgbClr val="404856"/>
                </a:solidFill>
                <a:latin typeface="Calibri"/>
              </a:rPr>
              <a:t>github.com/MalayM09/SRIB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Selected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6400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500" b="1" i="0">
                <a:solidFill>
                  <a:srgbClr val="0F1B3D"/>
                </a:solidFill>
                <a:latin typeface="Calibri"/>
              </a:rPr>
              <a:t>PS04  ·  Speech Disentanglement — Speaker-Specific Custom Word Detection on the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Problem Understanding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1124712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10972800" cy="18288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04856"/>
                </a:solidFill>
                <a:latin typeface="Calibri"/>
              </a:rPr>
              <a:t>Voice triggers must wake a device only when the right person says the right word — not when an impostor says it, not when a phonetically similar word is spoken, and not when crowd / traffic / babble noise drowns the signal.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04856"/>
                </a:solidFill>
                <a:latin typeface="Calibri"/>
              </a:rPr>
              <a:t>Today's edge wake-word systems either (a) accept anyone saying the trigger (privacy risk on shared devices), or (b) need &gt;10 M parameters and cloud offload. Standard log-Mel + ResNet pipelines collapse at low SNR; Transformer-based KWS miss the latency budget.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Hard KPI envelope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5138928"/>
            <a:ext cx="3246120" cy="12801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Accuracy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True-accept clean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≥ 99 %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True-accept noisy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≥ 90 %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False-accept rate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&lt; 1 / hr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34840" y="5138928"/>
            <a:ext cx="3246120" cy="12801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Compute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Params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&lt; 3 M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xRT (real-time)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&lt; 0.2 s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Memory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edge-class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502920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0" y="5138928"/>
            <a:ext cx="3246120" cy="12801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Conditions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SNR sweep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−5 to 30 dB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Distance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0.5 to 5 m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Languages 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phonetic-general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Proposed Solution — High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3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60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10972800" cy="8686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300" b="1" i="0">
                <a:solidFill>
                  <a:srgbClr val="144BC4"/>
                </a:solidFill>
                <a:latin typeface="Calibri"/>
              </a:rPr>
              <a:t>One sentence.  </a:t>
            </a:r>
            <a:r>
              <a:rPr sz="1300" b="0" i="0">
                <a:solidFill>
                  <a:srgbClr val="0F1B3D"/>
                </a:solidFill>
                <a:latin typeface="Calibri"/>
              </a:rPr>
              <a:t>A single ~830 K-parameter joint student (KWS backbone validated at 324 K) performs Keyword Spotting and Speaker Verification, distilled from two frozen SOTA teachers, with speaker-conditioned classification and a FAR-aware training loop.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36576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3657600" cy="320040"/>
          </a:xfrm>
          <a:prstGeom prst="rect">
            <a:avLst/>
          </a:prstGeom>
          <a:solidFill>
            <a:srgbClr val="14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3291840" cy="3200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1. Robust 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3200400" cy="31089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0" i="0">
                <a:solidFill>
                  <a:srgbClr val="404856"/>
                </a:solidFill>
                <a:latin typeface="Calibri"/>
              </a:rPr>
              <a:t>Learnable PCEN on Mel — survives −5 dB SNR where log-Mel collapses. Equivalent to LEAF in practice at a fraction of the compute.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669280"/>
            <a:ext cx="320040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1" i="1">
                <a:solidFill>
                  <a:srgbClr val="144BC4"/>
                </a:solidFill>
                <a:latin typeface="Calibri"/>
              </a:rPr>
              <a:t>PCEN ≡ LEAF (sub-layer)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33672" y="2057400"/>
            <a:ext cx="36576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33672" y="2057400"/>
            <a:ext cx="3657600" cy="320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057400"/>
            <a:ext cx="3291840" cy="3200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2. Compact Joint Student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514600"/>
            <a:ext cx="3200400" cy="31089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0" i="0">
                <a:solidFill>
                  <a:srgbClr val="404856"/>
                </a:solidFill>
                <a:latin typeface="Calibri"/>
              </a:rPr>
              <a:t>Modified BC-ResNet-8 with TRM branching, MQMHA pooling on SV head, and FiLM-conditioned KWS head — the speaker embedding modulates the keyword classifier.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5669280"/>
            <a:ext cx="320040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1" i="1">
                <a:solidFill>
                  <a:srgbClr val="B8860B"/>
                </a:solidFill>
                <a:latin typeface="Calibri"/>
              </a:rPr>
              <a:t>499 K Phase-1, → ~830 K Phase-2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057400"/>
            <a:ext cx="36576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10144" y="2057400"/>
            <a:ext cx="3657600" cy="320040"/>
          </a:xfrm>
          <a:prstGeom prst="rect">
            <a:avLst/>
          </a:prstGeom>
          <a:solidFill>
            <a:srgbClr val="C32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4" y="2057400"/>
            <a:ext cx="3291840" cy="3200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3. Multi-Teacher KD + FAR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514600"/>
            <a:ext cx="3200400" cy="31089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0" i="0">
                <a:solidFill>
                  <a:srgbClr val="404856"/>
                </a:solidFill>
                <a:latin typeface="Calibri"/>
              </a:rPr>
              <a:t>WavLM-Base+ (phonetic) + ECAPA-TDNN (biometric) teachers. Training loop includes online τₛ calibration that bakes the FA &lt; 1 / hr operating point into the embedding geometry.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5669280"/>
            <a:ext cx="320040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1" i="1">
                <a:solidFill>
                  <a:srgbClr val="C3292B"/>
                </a:solidFill>
                <a:latin typeface="Calibri"/>
              </a:rPr>
              <a:t>FA &lt; 1 / hr baked into training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Technical Details —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4 / 12</a:t>
            </a:r>
          </a:p>
        </p:txBody>
      </p:sp>
      <p:pic>
        <p:nvPicPr>
          <p:cNvPr id="6" name="Picture 5" descr="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6847"/>
            <a:ext cx="11430000" cy="19239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3520440"/>
            <a:ext cx="3657600" cy="288036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329184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144BC4"/>
                </a:solidFill>
                <a:latin typeface="Calibri"/>
              </a:rPr>
              <a:t>Forward (inference)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3200400" cy="22402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waveform → PCEN frontend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→ shared BC-ResNet-8 trunk (blue)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→ TRM branching (yellow)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→ KWS / SV heads (green)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→ FiLM (red) modulates KWS logits on the speaker embedding.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3520440"/>
            <a:ext cx="3657600" cy="288036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9525">
            <a:solidFill>
              <a:srgbClr val="C3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16552" y="3611880"/>
            <a:ext cx="329184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C3292B"/>
                </a:solidFill>
                <a:latin typeface="Calibri"/>
              </a:rPr>
              <a:t>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4023360"/>
            <a:ext cx="3200400" cy="22402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Stop-gradient on the SV→FiLM edge —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KWS loss never back-propagates into the speaker branch.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Otherwise SV degrades (trade-off measured on Slide 7).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3520440"/>
            <a:ext cx="3657600" cy="2880360"/>
          </a:xfrm>
          <a:prstGeom prst="roundRect">
            <a:avLst>
              <a:gd name="adj" fmla="val 6000"/>
            </a:avLst>
          </a:prstGeom>
          <a:solidFill>
            <a:srgbClr val="FBF2DD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93024" y="3611880"/>
            <a:ext cx="329184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B8860B"/>
                </a:solidFill>
                <a:latin typeface="Calibri"/>
              </a:rPr>
              <a:t>Params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8744" y="4023360"/>
            <a:ext cx="3200400" cy="22402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Trunk  324 K  (validated)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+ branches / heads  ~175 K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=  499 K  Phase-1 joint  (Slide 8)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~830 K projected with multi-teacher KD heads.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Technical Details — Multi-Teacher Knowledge Distillation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5 / 12</a:t>
            </a:r>
          </a:p>
        </p:txBody>
      </p:sp>
      <p:pic>
        <p:nvPicPr>
          <p:cNvPr id="6" name="Picture 5" descr="2_distil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9043" y="960120"/>
            <a:ext cx="7043434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43484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400" b="1" i="0">
                <a:solidFill>
                  <a:srgbClr val="0F1B3D"/>
                </a:solidFill>
                <a:latin typeface="Calibri"/>
              </a:rPr>
              <a:t>L_total = </a:t>
            </a:r>
            <a:r>
              <a:rPr sz="1300" b="0" i="0">
                <a:solidFill>
                  <a:srgbClr val="0F1B3D"/>
                </a:solidFill>
                <a:latin typeface="Calibri"/>
              </a:rPr>
              <a:t>λ₁·L_KWS^Focal + λ₂·L_SV^SubCtr-AAM + λ₃·T²·KL(stu ∥ probe) + λ₄·L_hint^{4,8,11} + λ₅·L_ECAPA^multi-level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11247120" cy="1005840"/>
          </a:xfrm>
          <a:prstGeom prst="roundRect">
            <a:avLst>
              <a:gd name="adj" fmla="val 6000"/>
            </a:avLst>
          </a:prstGeom>
          <a:solidFill>
            <a:srgbClr val="E7F4EC"/>
          </a:solidFill>
          <a:ln w="9525">
            <a:solidFill>
              <a:srgbClr val="1B7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5486400"/>
            <a:ext cx="10972800" cy="10058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300" b="1" i="0">
                <a:solidFill>
                  <a:srgbClr val="1B7F4F"/>
                </a:solidFill>
                <a:latin typeface="Calibri"/>
              </a:rPr>
              <a:t>Phase-1 validation:  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WavLM-Base+ final-layer distillation (simplest form of L_hint) trained jointly with L_KWS for 40 epochs  →  KWS clean val </a:t>
            </a:r>
            <a:r>
              <a:rPr sz="1300" b="1" i="0">
                <a:solidFill>
                  <a:srgbClr val="144BC4"/>
                </a:solidFill>
                <a:latin typeface="Calibri"/>
              </a:rPr>
              <a:t>97.6 → 98.3 %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,  cosine alignment with teacher </a:t>
            </a:r>
            <a:r>
              <a:rPr sz="1300" b="1" i="0">
                <a:solidFill>
                  <a:srgbClr val="144BC4"/>
                </a:solidFill>
                <a:latin typeface="Calibri"/>
              </a:rPr>
              <a:t>0.94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.  Multi-layer hints {4, 8, 11} projected to close the remaining 0.7 pp gap to 99 % — see Slide 7.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Technical Details — Parameter Budget &amp; Training Stages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6 / 12</a:t>
            </a:r>
          </a:p>
        </p:txBody>
      </p:sp>
      <p:pic>
        <p:nvPicPr>
          <p:cNvPr id="6" name="Picture 5" descr="6_param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69113"/>
            <a:ext cx="5486400" cy="299409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26480" y="1005840"/>
            <a:ext cx="576072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394960" cy="4114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300" b="1" i="0">
                <a:solidFill>
                  <a:srgbClr val="0F1B3D"/>
                </a:solidFill>
                <a:latin typeface="Calibri"/>
              </a:rPr>
              <a:t>Training stages  (~36 GPU-hr Kaggle T4 / P100)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5394960" cy="365760"/>
          </a:xfrm>
          <a:prstGeom prst="rect">
            <a:avLst/>
          </a:prstGeom>
          <a:solidFill>
            <a:srgbClr val="14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548640" cy="3657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645920"/>
            <a:ext cx="2377440" cy="3657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657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029968"/>
            <a:ext cx="5394960" cy="50292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029968"/>
            <a:ext cx="5486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029968"/>
            <a:ext cx="23774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SC + LibriPhrase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029968"/>
            <a:ext cx="265176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Train WavLM→KWS probe (one-time)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32888"/>
            <a:ext cx="5486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532888"/>
            <a:ext cx="23774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Speech Commands 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532888"/>
            <a:ext cx="265176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Stabilise PCEN + trunk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035808"/>
            <a:ext cx="5394960" cy="50292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35808"/>
            <a:ext cx="5486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035808"/>
            <a:ext cx="23774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SC + VoxCeleb1 + LibriPhrase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035808"/>
            <a:ext cx="265176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Full multi-task + all KD terms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8728"/>
            <a:ext cx="5486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538728"/>
            <a:ext cx="23774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LibriPhrase + TTS-trigger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538728"/>
            <a:ext cx="265176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Specialise + online τₛ calibration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041648"/>
            <a:ext cx="5394960" cy="50292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041648"/>
            <a:ext cx="5486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041648"/>
            <a:ext cx="237744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4041648"/>
            <a:ext cx="2651760" cy="50292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Quantisation-aware training (INT8)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349240"/>
            <a:ext cx="5394960" cy="6858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1B7F4F"/>
                </a:solidFill>
                <a:latin typeface="Calibri"/>
              </a:rPr>
              <a:t>Final inference model:  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499.6 K params (17 % of 3 M cap), INT8 ONNX ships at 0.79 MB.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Phase-1 Empirical — KWS Backbone + Custom-Word Generalization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7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960120"/>
            <a:ext cx="6766560" cy="1920240"/>
          </a:xfrm>
          <a:prstGeom prst="roundRect">
            <a:avLst>
              <a:gd name="adj" fmla="val 6000"/>
            </a:avLst>
          </a:prstGeom>
          <a:solidFill>
            <a:srgbClr val="E7F4EC"/>
          </a:solidFill>
          <a:ln w="9525">
            <a:solidFill>
              <a:srgbClr val="1B7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6400800" cy="1920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7F4F"/>
                </a:solidFill>
                <a:latin typeface="Calibri"/>
              </a:rPr>
              <a:t>Measured path to ≥99 % TA Clean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BC4"/>
                </a:solidFill>
                <a:latin typeface="Calibri"/>
              </a:rPr>
              <a:t>97.6 %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  (P0, 322 K params)   →   </a:t>
            </a:r>
            <a:r>
              <a:rPr sz="1600" b="1" i="0">
                <a:solidFill>
                  <a:srgbClr val="144BC4"/>
                </a:solidFill>
                <a:latin typeface="Calibri"/>
              </a:rPr>
              <a:t>98.2 %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  (P2 wide 705 K + label-smooth)   →   </a:t>
            </a:r>
            <a:r>
              <a:rPr sz="1600" b="1" i="0">
                <a:solidFill>
                  <a:srgbClr val="144BC4"/>
                </a:solidFill>
                <a:latin typeface="Calibri"/>
              </a:rPr>
              <a:t>98.3 %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  (P3 + WavLM final-layer distill)   →   </a:t>
            </a:r>
            <a:r>
              <a:rPr sz="1600" b="1" i="0">
                <a:solidFill>
                  <a:srgbClr val="1B7F4F"/>
                </a:solidFill>
                <a:latin typeface="Calibri"/>
              </a:rPr>
              <a:t>≥99 %</a:t>
            </a:r>
            <a:r>
              <a:rPr sz="1200" b="0" i="0">
                <a:solidFill>
                  <a:srgbClr val="404856"/>
                </a:solidFill>
                <a:latin typeface="Calibri"/>
              </a:rPr>
              <a:t>  projected (multi-layer SKILL hints + EMA).</a:t>
            </a:r>
          </a:p>
          <a:p>
            <a:pPr algn="l"/>
            <a:r>
              <a:rPr sz="1100" b="0" i="1">
                <a:solidFill>
                  <a:srgbClr val="6A7383"/>
                </a:solidFill>
                <a:latin typeface="Calibri"/>
              </a:rPr>
              <a:t>All within &lt; 24 % of the 3 M param cap.</a:t>
            </a:r>
          </a:p>
        </p:txBody>
      </p:sp>
      <p:pic>
        <p:nvPicPr>
          <p:cNvPr id="8" name="Picture 7" descr="10_custom_w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702277"/>
            <a:ext cx="6766560" cy="205948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0" y="960120"/>
            <a:ext cx="4526280" cy="141732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0" y="1005840"/>
            <a:ext cx="4160520" cy="13716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Headline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44BC4"/>
                </a:solidFill>
                <a:latin typeface="Calibri"/>
              </a:rPr>
              <a:t>EER = 12.43 %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 on 7 novel SC V2 keywords (700 trials).</a:t>
            </a:r>
          </a:p>
          <a:p>
            <a:pPr algn="l"/>
            <a:r>
              <a:rPr sz="1200" b="1" i="0">
                <a:solidFill>
                  <a:srgbClr val="144BC4"/>
                </a:solidFill>
                <a:latin typeface="Calibri"/>
              </a:rPr>
              <a:t>AUC = 0.934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, score separation </a:t>
            </a:r>
            <a:r>
              <a:rPr sz="1200" b="1" i="0">
                <a:solidFill>
                  <a:srgbClr val="144BC4"/>
                </a:solidFill>
                <a:latin typeface="Calibri"/>
              </a:rPr>
              <a:t>4.2×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— at 384 K params, no WavLM teacher.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514600"/>
            <a:ext cx="4526280" cy="233172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9525">
            <a:solidFill>
              <a:srgbClr val="C3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0" y="2560320"/>
            <a:ext cx="4160520" cy="22860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3292B"/>
                </a:solidFill>
                <a:latin typeface="Calibri"/>
              </a:rPr>
              <a:t>Phonetic + cross-lingual generalisation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Within English, per-word EER 6–18 %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(forward / follow at 6–7 %; backward / learn at 16–18 %).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04856"/>
                </a:solidFill>
                <a:latin typeface="Calibri"/>
              </a:rPr>
              <a:t>Zero-shot Tamil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(MSWC, 6 minimal-pair keywords, n=180): </a:t>
            </a:r>
            <a:r>
              <a:rPr sz="1300" b="1" i="0">
                <a:solidFill>
                  <a:srgbClr val="C3292B"/>
                </a:solidFill>
                <a:latin typeface="Calibri"/>
              </a:rPr>
              <a:t>14.7 % mean EER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 —  only </a:t>
            </a:r>
            <a:r>
              <a:rPr sz="1300" b="1" i="0">
                <a:solidFill>
                  <a:srgbClr val="C3292B"/>
                </a:solidFill>
                <a:latin typeface="Calibri"/>
              </a:rPr>
              <a:t>+2.2 pp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above English.</a:t>
            </a:r>
          </a:p>
          <a:p>
            <a:pPr algn="l"/>
            <a:r>
              <a:rPr sz="1100" b="0" i="1">
                <a:solidFill>
                  <a:srgbClr val="404856"/>
                </a:solidFill>
                <a:latin typeface="Calibri"/>
              </a:rPr>
              <a:t>The embedder is phonetically organised, not language-specific — precondition for user-chosen triggers in any language.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4937760"/>
            <a:ext cx="4526280" cy="1600200"/>
          </a:xfrm>
          <a:prstGeom prst="roundRect">
            <a:avLst>
              <a:gd name="adj" fmla="val 6000"/>
            </a:avLst>
          </a:prstGeom>
          <a:solidFill>
            <a:srgbClr val="FBF2DD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0" y="4983480"/>
            <a:ext cx="4160520" cy="155448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860B"/>
                </a:solidFill>
                <a:latin typeface="Calibri"/>
              </a:rPr>
              <a:t>Path to GREEN  (≤10 % EER)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Add WavLM hint-layer distillation (layers 4 / 8 / 11). Projected: ≤8 % EER, TAR ≥ 70 % at FAR = 1 %. Same 384 K student, no extra inference cost.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Phase-1 Empirical — Deployment Latency &amp; Cocktail-Party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8 / 12</a:t>
            </a:r>
          </a:p>
        </p:txBody>
      </p:sp>
      <p:pic>
        <p:nvPicPr>
          <p:cNvPr id="6" name="Picture 5" descr="11_deploy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72422"/>
            <a:ext cx="6675120" cy="25185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5760" y="3840480"/>
            <a:ext cx="6675120" cy="2697480"/>
          </a:xfrm>
          <a:prstGeom prst="roundRect">
            <a:avLst>
              <a:gd name="adj" fmla="val 6000"/>
            </a:avLst>
          </a:prstGeom>
          <a:solidFill>
            <a:srgbClr val="ECF2FC"/>
          </a:solidFill>
          <a:ln w="9525">
            <a:solidFill>
              <a:srgbClr val="14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886200"/>
            <a:ext cx="6400800" cy="2651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4BC4"/>
                </a:solidFill>
                <a:latin typeface="Calibri"/>
              </a:rPr>
              <a:t>xRT  ·  comfortable PASS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Pi 4B INT8: </a:t>
            </a:r>
            <a:r>
              <a:rPr sz="1300" b="1" i="0">
                <a:solidFill>
                  <a:srgbClr val="144BC4"/>
                </a:solidFill>
                <a:latin typeface="Calibri"/>
              </a:rPr>
              <a:t>12 ms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end-to-end vs </a:t>
            </a:r>
            <a:r>
              <a:rPr sz="1300" b="1" i="0">
                <a:solidFill>
                  <a:srgbClr val="144BC4"/>
                </a:solidFill>
                <a:latin typeface="Calibri"/>
              </a:rPr>
              <a:t>200 ms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budget — </a:t>
            </a:r>
            <a:r>
              <a:rPr sz="1300" b="1" i="0">
                <a:solidFill>
                  <a:srgbClr val="1B7F4F"/>
                </a:solidFill>
                <a:latin typeface="Calibri"/>
              </a:rPr>
              <a:t>17× headroom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. Even FP32 at 17 ms clears 12×.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B3D"/>
                </a:solidFill>
                <a:latin typeface="Calibri"/>
              </a:rPr>
              <a:t>Param + size budget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499.6 K params (17 % of 3 M cap), INT8 ONNX ships at </a:t>
            </a:r>
            <a:r>
              <a:rPr sz="1200" b="1" i="0">
                <a:solidFill>
                  <a:srgbClr val="144BC4"/>
                </a:solidFill>
                <a:latin typeface="Calibri"/>
              </a:rPr>
              <a:t>0.79 MB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(2.6× shrink from 2.05 MB FP32).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B3D"/>
                </a:solidFill>
                <a:latin typeface="Calibri"/>
              </a:rPr>
              <a:t>Numeric fidelity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FP32 ONNX vs PyTorch max-abs-diff &lt; 3×10⁻⁶ (essentially exact); INT8 drift compensated by QAT (Stage 4).</a:t>
            </a:r>
          </a:p>
        </p:txBody>
      </p:sp>
      <p:pic>
        <p:nvPicPr>
          <p:cNvPr id="9" name="Picture 8" descr="12_babble_robus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501494"/>
            <a:ext cx="4572000" cy="16604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69480" y="3840480"/>
            <a:ext cx="4572000" cy="2697480"/>
          </a:xfrm>
          <a:prstGeom prst="roundRect">
            <a:avLst>
              <a:gd name="adj" fmla="val 6000"/>
            </a:avLst>
          </a:prstGeom>
          <a:solidFill>
            <a:srgbClr val="E7F4EC"/>
          </a:solidFill>
          <a:ln w="9525">
            <a:solidFill>
              <a:srgbClr val="1B7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52360" y="3886200"/>
            <a:ext cx="4297680" cy="2651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7F4F"/>
                </a:solidFill>
                <a:latin typeface="Calibri"/>
              </a:rPr>
              <a:t>Cocktail-party robustness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Babble augmentation (40 % of batches, 1–2 voices) lifts </a:t>
            </a:r>
            <a:r>
              <a:rPr sz="1200" b="1" i="0">
                <a:solidFill>
                  <a:srgbClr val="1B7F4F"/>
                </a:solidFill>
                <a:latin typeface="Calibri"/>
              </a:rPr>
              <a:t>+19 pp at −5 dB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, </a:t>
            </a:r>
            <a:r>
              <a:rPr sz="1200" b="1" i="0">
                <a:solidFill>
                  <a:srgbClr val="1B7F4F"/>
                </a:solidFill>
                <a:latin typeface="Calibri"/>
              </a:rPr>
              <a:t>+21 pp at 0 dB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; clean cost only −0.5 pp.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N = 3 voices generalisation holds: </a:t>
            </a:r>
            <a:r>
              <a:rPr sz="1300" b="1" i="0">
                <a:solidFill>
                  <a:srgbClr val="1B7F4F"/>
                </a:solidFill>
                <a:latin typeface="Calibri"/>
              </a:rPr>
              <a:t>90 % at 10 dB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 with three simultaneous speakers — within KPI envelope across the realistic-noise band.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Novelty &amp;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9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60120"/>
            <a:ext cx="11247120" cy="178308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9525">
            <a:solidFill>
              <a:srgbClr val="C3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972800" cy="17373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3292B"/>
                </a:solidFill>
                <a:latin typeface="Calibri"/>
              </a:rPr>
              <a:t>Core novelty  ·  structural false-accept rejection via FiLM-conditioned KWS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404856"/>
                </a:solidFill>
                <a:latin typeface="Calibri"/>
              </a:rPr>
              <a:t>Conventional personalised wake-word systems run KWS and SV as independent gates and AND the decisions — any leakage between heads or threshold drift breaks the FA &lt; 1 / hr budget.</a:t>
            </a:r>
          </a:p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We instead modulate the KWS classifier's intermediate features with the enrolled user's voice embedding, so the same audio produces different logits for different enrolled users. Impostor rejection becomes a property of the network, not of a tunable threshold.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56052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5239512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0F1B3D"/>
                </a:solidFill>
                <a:latin typeface="Calibri"/>
              </a:rPr>
              <a:t>Online τₛ calibration during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5239512" cy="11430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Every 500 steps we re-estimate the deployment threshold on a held-out impostor pool and feed FRR-at-target-FAR back as a soft penalty. Bakes the FA &lt; 1 / hr operating point into the embedding geometry.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926080"/>
            <a:ext cx="56052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0" y="3017520"/>
            <a:ext cx="5239512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0F1B3D"/>
                </a:solidFill>
                <a:latin typeface="Calibri"/>
              </a:rPr>
              <a:t>Layer-ensemble WavLM distillation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383280"/>
            <a:ext cx="5239512" cy="11430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Three learnable softmax weights over layers {4, 8, 11} — beats single-layer choice (SKILL, 2024). Phase-1 validated at the final-layer simplest form (+0.7 pp KWS clean).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54880"/>
            <a:ext cx="56052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5239512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0F1B3D"/>
                </a:solidFill>
                <a:latin typeface="Calibri"/>
              </a:rPr>
              <a:t>Multi-level ECAPA distillation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12080"/>
            <a:ext cx="5239512" cy="11430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Block-2 + block-3 + final embedding — ~5 % relative EER reduction over final-only KD.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754880"/>
            <a:ext cx="56052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9360" y="4846320"/>
            <a:ext cx="5239512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0F1B3D"/>
                </a:solidFill>
                <a:latin typeface="Calibri"/>
              </a:rPr>
              <a:t>Phonetic confusable hard-negative mining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212080"/>
            <a:ext cx="5239512" cy="114300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TIMIT phone-confusion-weighted Levenshtein on G2P output, sampled at 3× during training — directly targets the FA &lt; 1 / hr risk.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Open Datasets — Used &amp; To Be Published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To be used  (all permissive licences, downloadable)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solidFill>
            <a:srgbClr val="14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301752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463040"/>
            <a:ext cx="594360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463040"/>
            <a:ext cx="173736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Licence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74520"/>
            <a:ext cx="10881360" cy="41148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87452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Google Speech Commands v0.02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187452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KWS positives + general negatives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187452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CC-BY 4.0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VoxCeleb1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28600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Speaker verification + impostor pool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228600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CC-BY 4.0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97480"/>
            <a:ext cx="10881360" cy="41148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69748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LibriPhrase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69748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Joint phrase + speaker fine-tuning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69748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0896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MUSAN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310896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Crowd / babble / traffic noise injection (−5 to 30 dB)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310896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CC-BY 4.0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520440"/>
            <a:ext cx="10881360" cy="41148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52044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OpenSLR RIRs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352044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Room impulse responses → 0.5–5 m distance simulation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352044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Apache-2.0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31920"/>
            <a:ext cx="301752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MLCommons MSWC  (H1 eval)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931920"/>
            <a:ext cx="594360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Multilingual zero-shot keyword generalisation (Tamil)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3931920"/>
            <a:ext cx="17373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CC-BY 4.0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93776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To be published  (Apache-2.0)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34924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FBF2DD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0080" y="5394960"/>
            <a:ext cx="10972800" cy="11887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/>
            <a:r>
              <a:rPr sz="1200" b="1" i="0">
                <a:solidFill>
                  <a:srgbClr val="B8860B"/>
                </a:solidFill>
                <a:latin typeface="Calibri"/>
              </a:rPr>
              <a:t>Confusable-trigger benchmark.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For any chosen trigger word, the mined top-50 phonetic confusables synthesised in 100+ XTTS-v2 voices + their RIR / MUSAN augmentations. Useful for any future personalised-KWS work targeting FA &lt; 1 / hr. Released under Apache-2.0.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Open Models — Used &amp; Developed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To be used  (frozen, distillation teachers)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solidFill>
            <a:srgbClr val="144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265176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63040"/>
            <a:ext cx="539496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463040"/>
            <a:ext cx="265176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Source / Licence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874520"/>
            <a:ext cx="10881360" cy="41148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87452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WavLM-Base+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874520"/>
            <a:ext cx="53949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Phonetic / noise-robust teacher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87452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microsoft/wavlm-base-plus · 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ECAPA-TDNN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286000"/>
            <a:ext cx="53949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Speaker biometric teacher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28600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speechbrain/spkrec-ecapa · Apache-2.0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97480"/>
            <a:ext cx="10881360" cy="41148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69748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XTTS-v2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697480"/>
            <a:ext cx="53949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Multi-voice TTS for trigger augmentation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69748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coqui/XTTS-v2 · CPML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0896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g2p-en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108960"/>
            <a:ext cx="53949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Trigger word → ARPAbet phones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3108960"/>
            <a:ext cx="2651760" cy="41148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Apache-2.0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To be developed / trained from scratch  (Apache-2.0)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43400"/>
            <a:ext cx="1124712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40080" y="4434840"/>
            <a:ext cx="10881360" cy="384048"/>
          </a:xfrm>
          <a:prstGeom prst="rect">
            <a:avLst/>
          </a:prstGeom>
          <a:solidFill>
            <a:srgbClr val="1B7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434840"/>
            <a:ext cx="356616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34840"/>
            <a:ext cx="7132320" cy="38404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846320"/>
            <a:ext cx="10881360" cy="59436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846320"/>
            <a:ext cx="356616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BC-ResNet-8 (modified) joint student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846320"/>
            <a:ext cx="713232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TRM branching, FiLM speaker conditioning, MQMHA SV pooling — joint KWS + SV, ~830 K params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440680"/>
            <a:ext cx="356616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WavLM → KWS probing head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440680"/>
            <a:ext cx="713232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2-layer MLP, ~50 K params, one-time training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035040"/>
            <a:ext cx="10881360" cy="59436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035040"/>
            <a:ext cx="356616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1" i="0">
                <a:solidFill>
                  <a:srgbClr val="0F1B3D"/>
                </a:solidFill>
                <a:latin typeface="Calibri"/>
              </a:rPr>
              <a:t>INT8-quantised ONNX export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6035040"/>
            <a:ext cx="7132320" cy="59436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1100" b="0" i="0">
                <a:solidFill>
                  <a:srgbClr val="404856"/>
                </a:solidFill>
                <a:latin typeface="Calibri"/>
              </a:rPr>
              <a:t>Edge-deployable artefact — 0.79 MB on disk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3B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0"/>
            <a:ext cx="11460175" cy="777240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AI / GenAI / Agentic Tools &amp; Best Practices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6537960"/>
            <a:ext cx="1188720" cy="27432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r"/>
            <a:r>
              <a:rPr sz="900" b="0" i="0">
                <a:solidFill>
                  <a:srgbClr val="6A7383"/>
                </a:solidFill>
                <a:latin typeface="Calibri"/>
              </a:rPr>
              <a:t>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Tools used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212080" cy="489204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PyTorch 2.x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+ torch.compile(mode="reduce-overhead") for ~15 % Kaggle speedup.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HuggingFace Transformers / SpeechBrain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frozen teacher inference (WavLM, ECAPA).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Coqui XTTS-v2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generative-AI component for synthetic speaker diversity in trigger and confusable data.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Optuna (TPE sampler)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automated multi-task loss-weight + AAM hyperparameter search, scoped to Stage 2.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ONNX Runtime + Quantization Toolkit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INT8 edge export and latency benchmarking.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Google kws_streaming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reference for stateful streaming inference.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4BC4"/>
                </a:solidFill>
                <a:latin typeface="Calibri"/>
              </a:rPr>
              <a:t>• Claude Code (Anthropic CLI)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agentic AI pair-programmer used throughout for code generation, blueprint iteration, multilingual eval, and PPTX rendering.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3B8E"/>
                </a:solidFill>
                <a:latin typeface="Calibri"/>
              </a:rPr>
              <a:t>Best practices uncovered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86400" cy="502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212080" cy="4892040"/>
          </a:xfrm>
          <a:prstGeom prst="rect">
            <a:avLst/>
          </a:prstGeom>
          <a:noFill/>
        </p:spPr>
        <p:txBody>
          <a:bodyPr wrap="square" lIns="73152" rIns="73152" tIns="43891" bIns="43891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3292B"/>
                </a:solidFill>
                <a:latin typeface="Calibri"/>
              </a:rPr>
              <a:t>1.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Symmetric augmentation in distillation.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Teacher and student must see the same augmented audio, otherwise the student collapses to the teacher's clean manifold.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3292B"/>
                </a:solidFill>
                <a:latin typeface="Calibri"/>
              </a:rPr>
              <a:t>2.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Multi-level KD beats single-layer KD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for both phonetic (WavLM) and biometric (ECAPA) teachers — measured ~5 % relative metric gain.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3292B"/>
                </a:solidFill>
                <a:latin typeface="Calibri"/>
              </a:rPr>
              <a:t>3.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Bake the deployment operating point into training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(online τₛ calibration). Post-hoc thresholding cannot fix an embedding space that wasn't trained to be FAR-aware.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3292B"/>
                </a:solidFill>
                <a:latin typeface="Calibri"/>
              </a:rPr>
              <a:t>4.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Structural conditioning &gt; threshold gating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for personalised triggers. FiLM-modulated KWS is materially safer for FA-bounded scenarios than "AND of two independent classifiers".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3292B"/>
                </a:solidFill>
                <a:latin typeface="Calibri"/>
              </a:rPr>
              <a:t>5.  </a:t>
            </a:r>
            <a:r>
              <a:rPr sz="1200" b="1" i="0">
                <a:solidFill>
                  <a:srgbClr val="0F1B3D"/>
                </a:solidFill>
                <a:latin typeface="Calibri"/>
              </a:rPr>
              <a:t>Curriculum on SNR, not just on data difficulty.  </a:t>
            </a:r>
            <a:r>
              <a:rPr sz="1100" b="0" i="0">
                <a:solidFill>
                  <a:srgbClr val="404856"/>
                </a:solidFill>
                <a:latin typeface="Calibri"/>
              </a:rPr>
              <a:t>Starting at −5 dB diverges; ramp from 30 → −5 dB across the first 15 epochs.</a:t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1B7F4F"/>
                </a:solidFill>
                <a:latin typeface="Calibri"/>
              </a:rPr>
              <a:t>Licence:  </a:t>
            </a:r>
            <a:r>
              <a:rPr sz="1100" b="0" i="1">
                <a:solidFill>
                  <a:srgbClr val="404856"/>
                </a:solidFill>
                <a:latin typeface="Calibri"/>
              </a:rPr>
              <a:t>all code, weights, and the published benchmark released under Apache-2.0, per hackathon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